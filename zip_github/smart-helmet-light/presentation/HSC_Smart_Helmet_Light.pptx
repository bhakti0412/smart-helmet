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SC Submission" id="{eb6c0e04-4d9a-aa1d-ca79-a366d87cbf9b}">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four bracketed fields from the portal registration. The three icons on the right are the three features: auto night mode, crash detection with SMS alert, and session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two-wheeler riders are the largest group of road-death victims and most deaths are in rural areas where help is far. Solution: three features on one low-cost helmet add-on. Novelty: the helmet stays cheap because the phone supplies GPS and cellular SMS. Cost figure is an indicative estimate, confirm with your own bill of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diagram: sensors on the left feed the ESP32, which drives the lights and buzzer and talks BLE to the Android app. The chevron row is the crash flow. Replace the GitHub, demo video and AI-tools placeholders with your real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Two-wheeler riders account for 45% of road deaths per MoRTH data (2023). The cost figure is indicative. Stakeholder list is where pilots could start: delivery fleets are an obvious first user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thresholds are starting values until field tested. The phone-side timer is the safety net if Bluetooth drops after the crash. Update the status line to describe what you have actually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member names and adjust the roles to match who actually did what. The journey box is for your own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repository placeholder with your public GitHub link once it is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C">
    <p:bg>
      <p:bgPr>
        <a:solidFill>
          <a:schemeClr val="bg1"/>
        </a:solidFill>
      </p:bgPr>
    </p:bg>
    <p:spTree>
      <p:nvGrpSpPr>
        <p:cNvPr id="1" name=""/>
        <p:cNvGrpSpPr/>
        <p:nvPr/>
      </p:nvGrpSpPr>
      <p:grpSpPr>
        <a:xfrm>
          <a:off x="0" y="0"/>
          <a:ext cx="0" cy="0"/>
          <a:chOff x="0" y="0"/>
          <a:chExt cx="0" cy="0"/>
        </a:xfrm>
      </p:grpSpPr>
      <p:pic>
        <p:nvPicPr>
          <p:cNvPr id="2" name="Image 0" descr="/home/claude/work/logo-000.jpg">    </p:cNvPr>
          <p:cNvPicPr>
            <a:picLocks noChangeAspect="1"/>
          </p:cNvPicPr>
          <p:nvPr/>
        </p:nvPicPr>
        <p:blipFill>
          <a:blip r:embed="rId1"/>
          <a:stretch>
            <a:fillRect/>
          </a:stretch>
        </p:blipFill>
        <p:spPr>
          <a:xfrm>
            <a:off x="7452360" y="91440"/>
            <a:ext cx="1508760" cy="749808"/>
          </a:xfrm>
          <a:prstGeom prst="rect">
            <a:avLst/>
          </a:prstGeom>
        </p:spPr>
      </p:pic>
      <p:sp>
        <p:nvSpPr>
          <p:cNvPr id="3" name="Text 0"/>
          <p:cNvSpPr/>
          <p:nvPr/>
        </p:nvSpPr>
        <p:spPr>
          <a:xfrm>
            <a:off x="2743200" y="4846320"/>
            <a:ext cx="3657600" cy="228600"/>
          </a:xfrm>
          <a:prstGeom prst="rect">
            <a:avLst/>
          </a:prstGeom>
          <a:noFill/>
          <a:ln/>
        </p:spPr>
        <p:txBody>
          <a:bodyPr wrap="square" lIns="0" tIns="0" rIns="0" bIns="0" rtlCol="0" anchor="ctr"/>
          <a:lstStyle/>
          <a:p>
            <a:pPr algn="ctr" indent="0" marL="0">
              <a:buNone/>
            </a:pPr>
            <a:r>
              <a:rPr lang="en-US" sz="1000" dirty="0">
                <a:solidFill>
                  <a:schemeClr val="tx2"/>
                </a:solidFill>
              </a:rPr>
              <a:t>@HSC submission- Template</a:t>
            </a:r>
            <a:endParaRPr lang="en-US" sz="1000" dirty="0"/>
          </a:p>
        </p:txBody>
      </p:sp>
      <p:sp>
        <p:nvSpPr>
          <p:cNvPr id="4" name="Text 1"/>
          <p:cNvSpPr/>
          <p:nvPr>
            <p:ph idx="102" type="title" hasCustomPrompt="1"/>
          </p:nvPr>
        </p:nvSpPr>
        <p:spPr>
          <a:xfrm>
            <a:off x="1645920" y="164592"/>
            <a:ext cx="5669280" cy="640080"/>
          </a:xfrm>
          <a:prstGeom prst="rect">
            <a:avLst/>
          </a:prstGeom>
          <a:noFill/>
          <a:ln/>
        </p:spPr>
        <p:txBody>
          <a:bodyPr wrap="square" rtlCol="0"/>
          <a:lstStyle>
            <a:lvl1pPr algn="ctr" indent="0" marL="0">
              <a:buNone/>
              <a:defRPr lang="en-US" sz="2800" b="1" dirty="0">
                <a:solidFill>
                  <a:schemeClr val="tx2"/>
                </a:solidFill>
              </a:defRPr>
            </a:lvl1pPr>
          </a:lstStyle>
          <a:p>
            <a:pPr algn="ctr" indent="0" marL="0">
              <a:buNone/>
            </a:pPr>
            <a:endParaRPr lang="en-US" sz="28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Cover Page</a:t>
            </a:r>
            <a:endParaRPr lang="en-US" sz="2800" dirty="0"/>
          </a:p>
        </p:txBody>
      </p:sp>
      <p:sp>
        <p:nvSpPr>
          <p:cNvPr id="3" name="Text 1"/>
          <p:cNvSpPr txBox="1"/>
          <p:nvPr/>
        </p:nvSpPr>
        <p:spPr>
          <a:xfrm>
            <a:off x="365760" y="1005840"/>
            <a:ext cx="2377440" cy="960120"/>
          </a:xfrm>
          <a:prstGeom prst="rect">
            <a:avLst/>
          </a:prstGeom>
          <a:solidFill>
            <a:schemeClr val="bg2"/>
          </a:solidFill>
          <a:ln/>
        </p:spPr>
        <p:txBody>
          <a:bodyPr wrap="square" lIns="101600" tIns="101600" rIns="101600" bIns="101600" rtlCol="0" anchor="ctr"/>
          <a:lstStyle/>
          <a:p>
            <a:pPr indent="0" marL="0">
              <a:buNone/>
            </a:pPr>
            <a:r>
              <a:rPr lang="en-US" sz="1300" b="1" dirty="0">
                <a:solidFill>
                  <a:schemeClr val="accent1"/>
                </a:solidFill>
              </a:rPr>
              <a:t>Problem Statement/ Concept Title</a:t>
            </a:r>
            <a:endParaRPr lang="en-US" sz="1300" dirty="0"/>
          </a:p>
        </p:txBody>
      </p:sp>
      <p:sp>
        <p:nvSpPr>
          <p:cNvPr id="4" name="Text 2"/>
          <p:cNvSpPr txBox="1"/>
          <p:nvPr/>
        </p:nvSpPr>
        <p:spPr>
          <a:xfrm>
            <a:off x="2834640" y="1005840"/>
            <a:ext cx="3383280" cy="960120"/>
          </a:xfrm>
          <a:prstGeom prst="rect">
            <a:avLst/>
          </a:prstGeom>
          <a:noFill/>
          <a:ln/>
        </p:spPr>
        <p:txBody>
          <a:bodyPr wrap="square" lIns="50800" tIns="50800" rIns="50800" bIns="50800" rtlCol="0" anchor="ctr"/>
          <a:lstStyle/>
          <a:p>
            <a:pPr indent="0" marL="0">
              <a:buNone/>
            </a:pPr>
            <a:r>
              <a:rPr lang="en-US" sz="1600" b="1" dirty="0">
                <a:solidFill>
                  <a:schemeClr val="tx1"/>
                </a:solidFill>
              </a:rPr>
              <a:t>Smart Helmet Light: auto lights, crash alert and ride log for two-wheeler riders</a:t>
            </a:r>
            <a:endParaRPr lang="en-US" sz="1600" dirty="0"/>
          </a:p>
        </p:txBody>
      </p:sp>
      <p:sp>
        <p:nvSpPr>
          <p:cNvPr id="5" name="Text 3"/>
          <p:cNvSpPr txBox="1"/>
          <p:nvPr/>
        </p:nvSpPr>
        <p:spPr>
          <a:xfrm>
            <a:off x="365760" y="2075688"/>
            <a:ext cx="2377440" cy="621792"/>
          </a:xfrm>
          <a:prstGeom prst="rect">
            <a:avLst/>
          </a:prstGeom>
          <a:solidFill>
            <a:schemeClr val="bg2"/>
          </a:solidFill>
          <a:ln/>
        </p:spPr>
        <p:txBody>
          <a:bodyPr wrap="square" lIns="101600" tIns="101600" rIns="101600" bIns="101600" rtlCol="0" anchor="ctr"/>
          <a:lstStyle/>
          <a:p>
            <a:pPr indent="0" marL="0">
              <a:buNone/>
            </a:pPr>
            <a:r>
              <a:rPr lang="en-US" sz="1300" b="1" dirty="0">
                <a:solidFill>
                  <a:schemeClr val="accent1"/>
                </a:solidFill>
              </a:rPr>
              <a:t>Theme</a:t>
            </a:r>
            <a:endParaRPr lang="en-US" sz="1300" dirty="0"/>
          </a:p>
        </p:txBody>
      </p:sp>
      <p:sp>
        <p:nvSpPr>
          <p:cNvPr id="6" name="Text 4"/>
          <p:cNvSpPr txBox="1"/>
          <p:nvPr/>
        </p:nvSpPr>
        <p:spPr>
          <a:xfrm>
            <a:off x="2834640" y="2075688"/>
            <a:ext cx="3383280" cy="621792"/>
          </a:xfrm>
          <a:prstGeom prst="rect">
            <a:avLst/>
          </a:prstGeom>
          <a:noFill/>
          <a:ln/>
        </p:spPr>
        <p:txBody>
          <a:bodyPr wrap="square" lIns="50800" tIns="50800" rIns="50800" bIns="50800" rtlCol="0" anchor="ctr"/>
          <a:lstStyle/>
          <a:p>
            <a:pPr indent="0" marL="0">
              <a:buNone/>
            </a:pPr>
            <a:r>
              <a:rPr lang="en-US" sz="1500" i="1" dirty="0">
                <a:solidFill>
                  <a:schemeClr val="accent2"/>
                </a:solidFill>
              </a:rPr>
              <a:t>[Theme as registered on portal]</a:t>
            </a:r>
            <a:endParaRPr lang="en-US" sz="1500" dirty="0"/>
          </a:p>
        </p:txBody>
      </p:sp>
      <p:sp>
        <p:nvSpPr>
          <p:cNvPr id="7" name="Text 5"/>
          <p:cNvSpPr txBox="1"/>
          <p:nvPr/>
        </p:nvSpPr>
        <p:spPr>
          <a:xfrm>
            <a:off x="365760" y="2807208"/>
            <a:ext cx="2377440" cy="621792"/>
          </a:xfrm>
          <a:prstGeom prst="rect">
            <a:avLst/>
          </a:prstGeom>
          <a:solidFill>
            <a:schemeClr val="bg2"/>
          </a:solidFill>
          <a:ln/>
        </p:spPr>
        <p:txBody>
          <a:bodyPr wrap="square" lIns="101600" tIns="101600" rIns="101600" bIns="101600" rtlCol="0" anchor="ctr"/>
          <a:lstStyle/>
          <a:p>
            <a:pPr indent="0" marL="0">
              <a:buNone/>
            </a:pPr>
            <a:r>
              <a:rPr lang="en-US" sz="1300" b="1" dirty="0">
                <a:solidFill>
                  <a:schemeClr val="accent1"/>
                </a:solidFill>
              </a:rPr>
              <a:t>Team Name (Registered on portal)</a:t>
            </a:r>
            <a:endParaRPr lang="en-US" sz="1300" dirty="0"/>
          </a:p>
        </p:txBody>
      </p:sp>
      <p:sp>
        <p:nvSpPr>
          <p:cNvPr id="8" name="Text 6"/>
          <p:cNvSpPr txBox="1"/>
          <p:nvPr/>
        </p:nvSpPr>
        <p:spPr>
          <a:xfrm>
            <a:off x="2834640" y="2807208"/>
            <a:ext cx="3383280" cy="621792"/>
          </a:xfrm>
          <a:prstGeom prst="rect">
            <a:avLst/>
          </a:prstGeom>
          <a:noFill/>
          <a:ln/>
        </p:spPr>
        <p:txBody>
          <a:bodyPr wrap="square" lIns="50800" tIns="50800" rIns="50800" bIns="50800" rtlCol="0" anchor="ctr"/>
          <a:lstStyle/>
          <a:p>
            <a:pPr indent="0" marL="0">
              <a:buNone/>
            </a:pPr>
            <a:r>
              <a:rPr lang="en-US" sz="1500" i="1" dirty="0">
                <a:solidFill>
                  <a:schemeClr val="accent2"/>
                </a:solidFill>
              </a:rPr>
              <a:t>[Team Name]</a:t>
            </a:r>
            <a:endParaRPr lang="en-US" sz="1500" dirty="0"/>
          </a:p>
        </p:txBody>
      </p:sp>
      <p:sp>
        <p:nvSpPr>
          <p:cNvPr id="9" name="Text 7"/>
          <p:cNvSpPr txBox="1"/>
          <p:nvPr/>
        </p:nvSpPr>
        <p:spPr>
          <a:xfrm>
            <a:off x="365760" y="3538728"/>
            <a:ext cx="2377440" cy="621792"/>
          </a:xfrm>
          <a:prstGeom prst="rect">
            <a:avLst/>
          </a:prstGeom>
          <a:solidFill>
            <a:schemeClr val="bg2"/>
          </a:solidFill>
          <a:ln/>
        </p:spPr>
        <p:txBody>
          <a:bodyPr wrap="square" lIns="101600" tIns="101600" rIns="101600" bIns="101600" rtlCol="0" anchor="ctr"/>
          <a:lstStyle/>
          <a:p>
            <a:pPr indent="0" marL="0">
              <a:buNone/>
            </a:pPr>
            <a:r>
              <a:rPr lang="en-US" sz="1300" b="1" dirty="0">
                <a:solidFill>
                  <a:schemeClr val="accent1"/>
                </a:solidFill>
              </a:rPr>
              <a:t>Team ID (Registered on portal)</a:t>
            </a:r>
            <a:endParaRPr lang="en-US" sz="1300" dirty="0"/>
          </a:p>
        </p:txBody>
      </p:sp>
      <p:sp>
        <p:nvSpPr>
          <p:cNvPr id="10" name="Text 8"/>
          <p:cNvSpPr txBox="1"/>
          <p:nvPr/>
        </p:nvSpPr>
        <p:spPr>
          <a:xfrm>
            <a:off x="2834640" y="3538728"/>
            <a:ext cx="3383280" cy="621792"/>
          </a:xfrm>
          <a:prstGeom prst="rect">
            <a:avLst/>
          </a:prstGeom>
          <a:noFill/>
          <a:ln/>
        </p:spPr>
        <p:txBody>
          <a:bodyPr wrap="square" lIns="50800" tIns="50800" rIns="50800" bIns="50800" rtlCol="0" anchor="ctr"/>
          <a:lstStyle/>
          <a:p>
            <a:pPr indent="0" marL="0">
              <a:buNone/>
            </a:pPr>
            <a:r>
              <a:rPr lang="en-US" sz="1500" i="1" dirty="0">
                <a:solidFill>
                  <a:schemeClr val="accent2"/>
                </a:solidFill>
              </a:rPr>
              <a:t>[Team ID]</a:t>
            </a:r>
            <a:endParaRPr lang="en-US" sz="1500" dirty="0"/>
          </a:p>
        </p:txBody>
      </p:sp>
      <p:sp>
        <p:nvSpPr>
          <p:cNvPr id="11" name="Text 9"/>
          <p:cNvSpPr txBox="1"/>
          <p:nvPr/>
        </p:nvSpPr>
        <p:spPr>
          <a:xfrm>
            <a:off x="365760" y="4270248"/>
            <a:ext cx="2377440" cy="621792"/>
          </a:xfrm>
          <a:prstGeom prst="rect">
            <a:avLst/>
          </a:prstGeom>
          <a:solidFill>
            <a:schemeClr val="bg2"/>
          </a:solidFill>
          <a:ln/>
        </p:spPr>
        <p:txBody>
          <a:bodyPr wrap="square" lIns="101600" tIns="101600" rIns="101600" bIns="101600" rtlCol="0" anchor="ctr"/>
          <a:lstStyle/>
          <a:p>
            <a:pPr indent="0" marL="0">
              <a:buNone/>
            </a:pPr>
            <a:r>
              <a:rPr lang="en-US" sz="1300" b="1" dirty="0">
                <a:solidFill>
                  <a:schemeClr val="accent1"/>
                </a:solidFill>
              </a:rPr>
              <a:t>State/UT</a:t>
            </a:r>
            <a:endParaRPr lang="en-US" sz="1300" dirty="0"/>
          </a:p>
        </p:txBody>
      </p:sp>
      <p:sp>
        <p:nvSpPr>
          <p:cNvPr id="12" name="Text 10"/>
          <p:cNvSpPr txBox="1"/>
          <p:nvPr/>
        </p:nvSpPr>
        <p:spPr>
          <a:xfrm>
            <a:off x="2834640" y="4270248"/>
            <a:ext cx="3383280" cy="621792"/>
          </a:xfrm>
          <a:prstGeom prst="rect">
            <a:avLst/>
          </a:prstGeom>
          <a:noFill/>
          <a:ln/>
        </p:spPr>
        <p:txBody>
          <a:bodyPr wrap="square" lIns="50800" tIns="50800" rIns="50800" bIns="50800" rtlCol="0" anchor="ctr"/>
          <a:lstStyle/>
          <a:p>
            <a:pPr indent="0" marL="0">
              <a:buNone/>
            </a:pPr>
            <a:r>
              <a:rPr lang="en-US" sz="1500" i="1" dirty="0">
                <a:solidFill>
                  <a:schemeClr val="accent2"/>
                </a:solidFill>
              </a:rPr>
              <a:t>[State/UT]</a:t>
            </a:r>
            <a:endParaRPr lang="en-US" sz="1500" dirty="0"/>
          </a:p>
        </p:txBody>
      </p:sp>
      <p:sp>
        <p:nvSpPr>
          <p:cNvPr id="13" name="Feature panel"/>
          <p:cNvSpPr/>
          <p:nvPr/>
        </p:nvSpPr>
        <p:spPr>
          <a:xfrm>
            <a:off x="6446520" y="1005840"/>
            <a:ext cx="2331720" cy="3611880"/>
          </a:xfrm>
          <a:prstGeom prst="roundRect">
            <a:avLst>
              <a:gd name="adj" fmla="val 5882"/>
            </a:avLst>
          </a:prstGeom>
          <a:solidFill>
            <a:schemeClr val="tx2"/>
          </a:solidFill>
          <a:ln w="12700">
            <a:solidFill>
              <a:schemeClr val="tx2"/>
            </a:solidFill>
            <a:prstDash val="solid"/>
          </a:ln>
        </p:spPr>
      </p:sp>
      <p:sp>
        <p:nvSpPr>
          <p:cNvPr id="14" name="Auto night lights circle"/>
          <p:cNvSpPr/>
          <p:nvPr/>
        </p:nvSpPr>
        <p:spPr>
          <a:xfrm>
            <a:off x="6629400" y="1325880"/>
            <a:ext cx="566928" cy="566928"/>
          </a:xfrm>
          <a:prstGeom prst="ellipse">
            <a:avLst/>
          </a:prstGeom>
          <a:solidFill>
            <a:schemeClr val="accent2"/>
          </a:solidFill>
          <a:ln w="12700">
            <a:solidFill>
              <a:schemeClr val="accent2"/>
            </a:solidFill>
            <a:prstDash val="solid"/>
          </a:ln>
        </p:spPr>
      </p:sp>
      <p:pic>
        <p:nvPicPr>
          <p:cNvPr id="15" name="Auto night lights icon" descr="Auto night lights">    </p:cNvPr>
          <p:cNvPicPr>
            <a:picLocks noChangeAspect="1"/>
          </p:cNvPicPr>
          <p:nvPr/>
        </p:nvPicPr>
        <p:blipFill>
          <a:blip r:embed="rId1"/>
          <a:stretch>
            <a:fillRect/>
          </a:stretch>
        </p:blipFill>
        <p:spPr>
          <a:xfrm>
            <a:off x="6765463" y="1461943"/>
            <a:ext cx="294803" cy="294803"/>
          </a:xfrm>
          <a:prstGeom prst="rect">
            <a:avLst/>
          </a:prstGeom>
        </p:spPr>
      </p:pic>
      <p:sp>
        <p:nvSpPr>
          <p:cNvPr id="16" name="Text 13"/>
          <p:cNvSpPr txBox="1"/>
          <p:nvPr/>
        </p:nvSpPr>
        <p:spPr>
          <a:xfrm>
            <a:off x="7315200" y="1280160"/>
            <a:ext cx="1371600" cy="658368"/>
          </a:xfrm>
          <a:prstGeom prst="rect">
            <a:avLst/>
          </a:prstGeom>
          <a:noFill/>
          <a:ln/>
        </p:spPr>
        <p:txBody>
          <a:bodyPr wrap="square" lIns="0" tIns="0" rIns="0" bIns="0" rtlCol="0" anchor="ctr"/>
          <a:lstStyle/>
          <a:p>
            <a:pPr indent="0" marL="0">
              <a:buNone/>
            </a:pPr>
            <a:r>
              <a:rPr lang="en-US" sz="1400" b="1" dirty="0">
                <a:solidFill>
                  <a:schemeClr val="bg1"/>
                </a:solidFill>
              </a:rPr>
              <a:t>Auto night lights</a:t>
            </a:r>
            <a:endParaRPr lang="en-US" sz="1400" dirty="0"/>
          </a:p>
        </p:txBody>
      </p:sp>
      <p:sp>
        <p:nvSpPr>
          <p:cNvPr id="17" name="Crash alert + SMS circle"/>
          <p:cNvSpPr/>
          <p:nvPr/>
        </p:nvSpPr>
        <p:spPr>
          <a:xfrm>
            <a:off x="6629400" y="2423160"/>
            <a:ext cx="566928" cy="566928"/>
          </a:xfrm>
          <a:prstGeom prst="ellipse">
            <a:avLst/>
          </a:prstGeom>
          <a:solidFill>
            <a:schemeClr val="accent2"/>
          </a:solidFill>
          <a:ln w="12700">
            <a:solidFill>
              <a:schemeClr val="accent2"/>
            </a:solidFill>
            <a:prstDash val="solid"/>
          </a:ln>
        </p:spPr>
      </p:sp>
      <p:pic>
        <p:nvPicPr>
          <p:cNvPr id="18" name="Crash alert + SMS icon" descr="Crash alert + SMS">    </p:cNvPr>
          <p:cNvPicPr>
            <a:picLocks noChangeAspect="1"/>
          </p:cNvPicPr>
          <p:nvPr/>
        </p:nvPicPr>
        <p:blipFill>
          <a:blip r:embed="rId2"/>
          <a:stretch>
            <a:fillRect/>
          </a:stretch>
        </p:blipFill>
        <p:spPr>
          <a:xfrm>
            <a:off x="6765463" y="2559223"/>
            <a:ext cx="294803" cy="294803"/>
          </a:xfrm>
          <a:prstGeom prst="rect">
            <a:avLst/>
          </a:prstGeom>
        </p:spPr>
      </p:pic>
      <p:sp>
        <p:nvSpPr>
          <p:cNvPr id="19" name="Text 15"/>
          <p:cNvSpPr txBox="1"/>
          <p:nvPr/>
        </p:nvSpPr>
        <p:spPr>
          <a:xfrm>
            <a:off x="7315200" y="2377440"/>
            <a:ext cx="1371600" cy="658368"/>
          </a:xfrm>
          <a:prstGeom prst="rect">
            <a:avLst/>
          </a:prstGeom>
          <a:noFill/>
          <a:ln/>
        </p:spPr>
        <p:txBody>
          <a:bodyPr wrap="square" lIns="0" tIns="0" rIns="0" bIns="0" rtlCol="0" anchor="ctr"/>
          <a:lstStyle/>
          <a:p>
            <a:pPr indent="0" marL="0">
              <a:buNone/>
            </a:pPr>
            <a:r>
              <a:rPr lang="en-US" sz="1400" b="1" dirty="0">
                <a:solidFill>
                  <a:schemeClr val="bg1"/>
                </a:solidFill>
              </a:rPr>
              <a:t>Crash alert + SMS</a:t>
            </a:r>
            <a:endParaRPr lang="en-US" sz="1400" dirty="0"/>
          </a:p>
        </p:txBody>
      </p:sp>
      <p:sp>
        <p:nvSpPr>
          <p:cNvPr id="20" name="Ride session log circle"/>
          <p:cNvSpPr/>
          <p:nvPr/>
        </p:nvSpPr>
        <p:spPr>
          <a:xfrm>
            <a:off x="6629400" y="3520440"/>
            <a:ext cx="566928" cy="566928"/>
          </a:xfrm>
          <a:prstGeom prst="ellipse">
            <a:avLst/>
          </a:prstGeom>
          <a:solidFill>
            <a:schemeClr val="accent2"/>
          </a:solidFill>
          <a:ln w="12700">
            <a:solidFill>
              <a:schemeClr val="accent2"/>
            </a:solidFill>
            <a:prstDash val="solid"/>
          </a:ln>
        </p:spPr>
      </p:sp>
      <p:pic>
        <p:nvPicPr>
          <p:cNvPr id="21" name="Ride session log icon" descr="Ride session log">    </p:cNvPr>
          <p:cNvPicPr>
            <a:picLocks noChangeAspect="1"/>
          </p:cNvPicPr>
          <p:nvPr/>
        </p:nvPicPr>
        <p:blipFill>
          <a:blip r:embed="rId3"/>
          <a:stretch>
            <a:fillRect/>
          </a:stretch>
        </p:blipFill>
        <p:spPr>
          <a:xfrm>
            <a:off x="6765463" y="3656503"/>
            <a:ext cx="294803" cy="294803"/>
          </a:xfrm>
          <a:prstGeom prst="rect">
            <a:avLst/>
          </a:prstGeom>
        </p:spPr>
      </p:pic>
      <p:sp>
        <p:nvSpPr>
          <p:cNvPr id="22" name="Text 17"/>
          <p:cNvSpPr txBox="1"/>
          <p:nvPr/>
        </p:nvSpPr>
        <p:spPr>
          <a:xfrm>
            <a:off x="7315200" y="3474720"/>
            <a:ext cx="1371600" cy="658368"/>
          </a:xfrm>
          <a:prstGeom prst="rect">
            <a:avLst/>
          </a:prstGeom>
          <a:noFill/>
          <a:ln/>
        </p:spPr>
        <p:txBody>
          <a:bodyPr wrap="square" lIns="0" tIns="0" rIns="0" bIns="0" rtlCol="0" anchor="ctr"/>
          <a:lstStyle/>
          <a:p>
            <a:pPr indent="0" marL="0">
              <a:buNone/>
            </a:pPr>
            <a:r>
              <a:rPr lang="en-US" sz="1400" b="1" dirty="0">
                <a:solidFill>
                  <a:schemeClr val="bg1"/>
                </a:solidFill>
              </a:rPr>
              <a:t>Ride session log</a:t>
            </a:r>
            <a:endParaRPr lang="en-US" sz="14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Problem – Proposed Solution</a:t>
            </a:r>
            <a:endParaRPr lang="en-US" sz="2800" dirty="0"/>
          </a:p>
        </p:txBody>
      </p:sp>
      <p:sp>
        <p:nvSpPr>
          <p:cNvPr id="4" name="Text 2"/>
          <p:cNvSpPr txBox="1"/>
          <p:nvPr/>
        </p:nvSpPr>
        <p:spPr>
          <a:xfrm>
            <a:off x="365760" y="987552"/>
            <a:ext cx="24688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CORE PROBLEM</a:t>
            </a:r>
            <a:endParaRPr lang="en-US" sz="1200" dirty="0"/>
          </a:p>
        </p:txBody>
      </p:sp>
      <p:sp>
        <p:nvSpPr>
          <p:cNvPr id="5" name="Shape 3"/>
          <p:cNvSpPr/>
          <p:nvPr/>
        </p:nvSpPr>
        <p:spPr>
          <a:xfrm>
            <a:off x="365760" y="1280160"/>
            <a:ext cx="2514600" cy="914400"/>
          </a:xfrm>
          <a:prstGeom prst="roundRect">
            <a:avLst>
              <a:gd name="adj" fmla="val 8000"/>
            </a:avLst>
          </a:prstGeom>
          <a:solidFill>
            <a:schemeClr val="bg2"/>
          </a:solidFill>
          <a:ln w="12700">
            <a:solidFill>
              <a:schemeClr val="bg2"/>
            </a:solidFill>
            <a:prstDash val="solid"/>
          </a:ln>
        </p:spPr>
      </p:sp>
      <p:sp>
        <p:nvSpPr>
          <p:cNvPr id="6" name="Text 4"/>
          <p:cNvSpPr txBox="1"/>
          <p:nvPr/>
        </p:nvSpPr>
        <p:spPr>
          <a:xfrm>
            <a:off x="457200" y="1280160"/>
            <a:ext cx="914400" cy="914400"/>
          </a:xfrm>
          <a:prstGeom prst="rect">
            <a:avLst/>
          </a:prstGeom>
          <a:noFill/>
          <a:ln/>
        </p:spPr>
        <p:txBody>
          <a:bodyPr wrap="square" lIns="0" tIns="0" rIns="0" bIns="0" rtlCol="0" anchor="ctr"/>
          <a:lstStyle/>
          <a:p>
            <a:pPr algn="ctr" indent="0" marL="0">
              <a:buNone/>
            </a:pPr>
            <a:r>
              <a:rPr lang="en-US" sz="2800" b="1" dirty="0">
                <a:solidFill>
                  <a:schemeClr val="tx2"/>
                </a:solidFill>
              </a:rPr>
              <a:t>≈9</a:t>
            </a:r>
            <a:endParaRPr lang="en-US" sz="2800" dirty="0"/>
          </a:p>
        </p:txBody>
      </p:sp>
      <p:sp>
        <p:nvSpPr>
          <p:cNvPr id="7" name="Text 5"/>
          <p:cNvSpPr txBox="1"/>
          <p:nvPr/>
        </p:nvSpPr>
        <p:spPr>
          <a:xfrm>
            <a:off x="1417320" y="1280160"/>
            <a:ext cx="1417320" cy="914400"/>
          </a:xfrm>
          <a:prstGeom prst="rect">
            <a:avLst/>
          </a:prstGeom>
          <a:noFill/>
          <a:ln/>
        </p:spPr>
        <p:txBody>
          <a:bodyPr wrap="square" lIns="0" tIns="0" rIns="0" bIns="0" rtlCol="0" anchor="ctr"/>
          <a:lstStyle/>
          <a:p>
            <a:pPr indent="0" marL="0">
              <a:buNone/>
            </a:pPr>
            <a:r>
              <a:rPr lang="en-US" sz="1200" dirty="0">
                <a:solidFill>
                  <a:schemeClr val="tx1"/>
                </a:solidFill>
              </a:rPr>
              <a:t>two-wheeler rider deaths every hour in India (2023)</a:t>
            </a:r>
            <a:endParaRPr lang="en-US" sz="1200" dirty="0"/>
          </a:p>
        </p:txBody>
      </p:sp>
      <p:sp>
        <p:nvSpPr>
          <p:cNvPr id="8" name="Shape 6"/>
          <p:cNvSpPr/>
          <p:nvPr/>
        </p:nvSpPr>
        <p:spPr>
          <a:xfrm>
            <a:off x="365760" y="2331720"/>
            <a:ext cx="2514600" cy="914400"/>
          </a:xfrm>
          <a:prstGeom prst="roundRect">
            <a:avLst>
              <a:gd name="adj" fmla="val 8000"/>
            </a:avLst>
          </a:prstGeom>
          <a:solidFill>
            <a:schemeClr val="bg2"/>
          </a:solidFill>
          <a:ln w="12700">
            <a:solidFill>
              <a:schemeClr val="bg2"/>
            </a:solidFill>
            <a:prstDash val="solid"/>
          </a:ln>
        </p:spPr>
      </p:sp>
      <p:sp>
        <p:nvSpPr>
          <p:cNvPr id="9" name="Text 7"/>
          <p:cNvSpPr txBox="1"/>
          <p:nvPr/>
        </p:nvSpPr>
        <p:spPr>
          <a:xfrm>
            <a:off x="457200" y="2331720"/>
            <a:ext cx="914400" cy="914400"/>
          </a:xfrm>
          <a:prstGeom prst="rect">
            <a:avLst/>
          </a:prstGeom>
          <a:noFill/>
          <a:ln/>
        </p:spPr>
        <p:txBody>
          <a:bodyPr wrap="square" lIns="0" tIns="0" rIns="0" bIns="0" rtlCol="0" anchor="ctr"/>
          <a:lstStyle/>
          <a:p>
            <a:pPr algn="ctr" indent="0" marL="0">
              <a:buNone/>
            </a:pPr>
            <a:r>
              <a:rPr lang="en-US" sz="2800" b="1" dirty="0">
                <a:solidFill>
                  <a:schemeClr val="tx2"/>
                </a:solidFill>
              </a:rPr>
              <a:t>45%</a:t>
            </a:r>
            <a:endParaRPr lang="en-US" sz="2800" dirty="0"/>
          </a:p>
        </p:txBody>
      </p:sp>
      <p:sp>
        <p:nvSpPr>
          <p:cNvPr id="10" name="Text 8"/>
          <p:cNvSpPr txBox="1"/>
          <p:nvPr/>
        </p:nvSpPr>
        <p:spPr>
          <a:xfrm>
            <a:off x="1417320" y="2331720"/>
            <a:ext cx="1417320" cy="914400"/>
          </a:xfrm>
          <a:prstGeom prst="rect">
            <a:avLst/>
          </a:prstGeom>
          <a:noFill/>
          <a:ln/>
        </p:spPr>
        <p:txBody>
          <a:bodyPr wrap="square" lIns="0" tIns="0" rIns="0" bIns="0" rtlCol="0" anchor="ctr"/>
          <a:lstStyle/>
          <a:p>
            <a:pPr indent="0" marL="0">
              <a:buNone/>
            </a:pPr>
            <a:r>
              <a:rPr lang="en-US" sz="1200" dirty="0">
                <a:solidFill>
                  <a:schemeClr val="tx1"/>
                </a:solidFill>
              </a:rPr>
              <a:t>of all road deaths are two-wheeler riders (2023)</a:t>
            </a:r>
            <a:endParaRPr lang="en-US" sz="1200" dirty="0"/>
          </a:p>
        </p:txBody>
      </p:sp>
      <p:sp>
        <p:nvSpPr>
          <p:cNvPr id="11" name="Shape 9"/>
          <p:cNvSpPr/>
          <p:nvPr/>
        </p:nvSpPr>
        <p:spPr>
          <a:xfrm>
            <a:off x="365760" y="3383280"/>
            <a:ext cx="2514600" cy="914400"/>
          </a:xfrm>
          <a:prstGeom prst="roundRect">
            <a:avLst>
              <a:gd name="adj" fmla="val 8000"/>
            </a:avLst>
          </a:prstGeom>
          <a:solidFill>
            <a:schemeClr val="bg2"/>
          </a:solidFill>
          <a:ln w="12700">
            <a:solidFill>
              <a:schemeClr val="bg2"/>
            </a:solidFill>
            <a:prstDash val="solid"/>
          </a:ln>
        </p:spPr>
      </p:sp>
      <p:sp>
        <p:nvSpPr>
          <p:cNvPr id="12" name="Text 10"/>
          <p:cNvSpPr txBox="1"/>
          <p:nvPr/>
        </p:nvSpPr>
        <p:spPr>
          <a:xfrm>
            <a:off x="457200" y="3383280"/>
            <a:ext cx="914400" cy="914400"/>
          </a:xfrm>
          <a:prstGeom prst="rect">
            <a:avLst/>
          </a:prstGeom>
          <a:noFill/>
          <a:ln/>
        </p:spPr>
        <p:txBody>
          <a:bodyPr wrap="square" lIns="0" tIns="0" rIns="0" bIns="0" rtlCol="0" anchor="ctr"/>
          <a:lstStyle/>
          <a:p>
            <a:pPr algn="ctr" indent="0" marL="0">
              <a:buNone/>
            </a:pPr>
            <a:r>
              <a:rPr lang="en-US" sz="2800" b="1" dirty="0">
                <a:solidFill>
                  <a:schemeClr val="tx2"/>
                </a:solidFill>
              </a:rPr>
              <a:t>69%</a:t>
            </a:r>
            <a:endParaRPr lang="en-US" sz="2800" dirty="0"/>
          </a:p>
        </p:txBody>
      </p:sp>
      <p:sp>
        <p:nvSpPr>
          <p:cNvPr id="13" name="Text 11"/>
          <p:cNvSpPr txBox="1"/>
          <p:nvPr/>
        </p:nvSpPr>
        <p:spPr>
          <a:xfrm>
            <a:off x="1417320" y="3383280"/>
            <a:ext cx="1417320" cy="914400"/>
          </a:xfrm>
          <a:prstGeom prst="rect">
            <a:avLst/>
          </a:prstGeom>
          <a:noFill/>
          <a:ln/>
        </p:spPr>
        <p:txBody>
          <a:bodyPr wrap="square" lIns="0" tIns="0" rIns="0" bIns="0" rtlCol="0" anchor="ctr"/>
          <a:lstStyle/>
          <a:p>
            <a:pPr indent="0" marL="0">
              <a:buNone/>
            </a:pPr>
            <a:r>
              <a:rPr lang="en-US" sz="1200" dirty="0">
                <a:solidFill>
                  <a:schemeClr val="tx1"/>
                </a:solidFill>
              </a:rPr>
              <a:t>of road deaths happen in rural India (2023)</a:t>
            </a:r>
            <a:endParaRPr lang="en-US" sz="1200" dirty="0"/>
          </a:p>
        </p:txBody>
      </p:sp>
      <p:sp>
        <p:nvSpPr>
          <p:cNvPr id="14" name="Text 12"/>
          <p:cNvSpPr txBox="1"/>
          <p:nvPr/>
        </p:nvSpPr>
        <p:spPr>
          <a:xfrm>
            <a:off x="365760" y="4462272"/>
            <a:ext cx="2651760" cy="228600"/>
          </a:xfrm>
          <a:prstGeom prst="rect">
            <a:avLst/>
          </a:prstGeom>
          <a:noFill/>
          <a:ln/>
        </p:spPr>
        <p:txBody>
          <a:bodyPr wrap="square" lIns="0" tIns="0" rIns="0" bIns="0" rtlCol="0" anchor="ctr"/>
          <a:lstStyle/>
          <a:p>
            <a:pPr indent="0" marL="0">
              <a:buNone/>
            </a:pPr>
            <a:r>
              <a:rPr lang="en-US" sz="1000" i="1" dirty="0">
                <a:solidFill>
                  <a:schemeClr val="accent4"/>
                </a:solidFill>
              </a:rPr>
              <a:t>Source: MoRTH data, analysis in ref. [2]</a:t>
            </a:r>
            <a:endParaRPr lang="en-US" sz="1000" dirty="0"/>
          </a:p>
        </p:txBody>
      </p:sp>
      <p:sp>
        <p:nvSpPr>
          <p:cNvPr id="15" name="Text 13"/>
          <p:cNvSpPr txBox="1"/>
          <p:nvPr/>
        </p:nvSpPr>
        <p:spPr>
          <a:xfrm>
            <a:off x="3154680" y="987552"/>
            <a:ext cx="56692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PROPOSED SOLUTION: ONE ESP32 HELMET + THE RIDER’S PHONE</a:t>
            </a:r>
            <a:endParaRPr lang="en-US" sz="1200" dirty="0"/>
          </a:p>
        </p:txBody>
      </p:sp>
      <p:sp>
        <p:nvSpPr>
          <p:cNvPr id="16" name="Shape 14"/>
          <p:cNvSpPr/>
          <p:nvPr/>
        </p:nvSpPr>
        <p:spPr>
          <a:xfrm>
            <a:off x="3154680" y="1280160"/>
            <a:ext cx="1810512" cy="2103120"/>
          </a:xfrm>
          <a:prstGeom prst="roundRect">
            <a:avLst>
              <a:gd name="adj" fmla="val 4040"/>
            </a:avLst>
          </a:prstGeom>
          <a:solidFill>
            <a:schemeClr val="bg2"/>
          </a:solidFill>
          <a:ln w="12700">
            <a:solidFill>
              <a:schemeClr val="bg2"/>
            </a:solidFill>
            <a:prstDash val="solid"/>
          </a:ln>
        </p:spPr>
      </p:sp>
      <p:sp>
        <p:nvSpPr>
          <p:cNvPr id="17" name="Auto night mode circle"/>
          <p:cNvSpPr/>
          <p:nvPr/>
        </p:nvSpPr>
        <p:spPr>
          <a:xfrm>
            <a:off x="3282696" y="1389888"/>
            <a:ext cx="502920" cy="502920"/>
          </a:xfrm>
          <a:prstGeom prst="ellipse">
            <a:avLst/>
          </a:prstGeom>
          <a:solidFill>
            <a:schemeClr val="accent1"/>
          </a:solidFill>
          <a:ln w="12700">
            <a:solidFill>
              <a:schemeClr val="accent1"/>
            </a:solidFill>
            <a:prstDash val="solid"/>
          </a:ln>
        </p:spPr>
      </p:sp>
      <p:pic>
        <p:nvPicPr>
          <p:cNvPr id="18" name="Auto night mode icon" descr="Auto night mode">    </p:cNvPr>
          <p:cNvPicPr>
            <a:picLocks noChangeAspect="1"/>
          </p:cNvPicPr>
          <p:nvPr/>
        </p:nvPicPr>
        <p:blipFill>
          <a:blip r:embed="rId1"/>
          <a:stretch>
            <a:fillRect/>
          </a:stretch>
        </p:blipFill>
        <p:spPr>
          <a:xfrm>
            <a:off x="3403397" y="1510589"/>
            <a:ext cx="261518" cy="261518"/>
          </a:xfrm>
          <a:prstGeom prst="rect">
            <a:avLst/>
          </a:prstGeom>
        </p:spPr>
      </p:pic>
      <p:sp>
        <p:nvSpPr>
          <p:cNvPr id="19" name="Text 16"/>
          <p:cNvSpPr txBox="1"/>
          <p:nvPr/>
        </p:nvSpPr>
        <p:spPr>
          <a:xfrm>
            <a:off x="3282696" y="1938528"/>
            <a:ext cx="1600200" cy="292608"/>
          </a:xfrm>
          <a:prstGeom prst="rect">
            <a:avLst/>
          </a:prstGeom>
          <a:noFill/>
          <a:ln/>
        </p:spPr>
        <p:txBody>
          <a:bodyPr wrap="square" lIns="0" tIns="0" rIns="0" bIns="0" rtlCol="0" anchor="ctr"/>
          <a:lstStyle/>
          <a:p>
            <a:pPr indent="0" marL="0">
              <a:buNone/>
            </a:pPr>
            <a:r>
              <a:rPr lang="en-US" sz="1400" b="1" dirty="0">
                <a:solidFill>
                  <a:schemeClr val="tx2"/>
                </a:solidFill>
              </a:rPr>
              <a:t>Auto night mode</a:t>
            </a:r>
            <a:endParaRPr lang="en-US" sz="1400" dirty="0"/>
          </a:p>
        </p:txBody>
      </p:sp>
      <p:sp>
        <p:nvSpPr>
          <p:cNvPr id="20" name="Text 17"/>
          <p:cNvSpPr txBox="1"/>
          <p:nvPr/>
        </p:nvSpPr>
        <p:spPr>
          <a:xfrm>
            <a:off x="3282696" y="2249424"/>
            <a:ext cx="1600200" cy="768096"/>
          </a:xfrm>
          <a:prstGeom prst="rect">
            <a:avLst/>
          </a:prstGeom>
          <a:noFill/>
          <a:ln/>
        </p:spPr>
        <p:txBody>
          <a:bodyPr wrap="square" lIns="0" tIns="0" rIns="0" bIns="0" rtlCol="0" anchor="t"/>
          <a:lstStyle/>
          <a:p>
            <a:pPr indent="0" marL="0">
              <a:buNone/>
            </a:pPr>
            <a:r>
              <a:rPr lang="en-US" sz="1200" dirty="0">
                <a:solidFill>
                  <a:schemeClr val="tx1"/>
                </a:solidFill>
              </a:rPr>
              <a:t>LDR senses dusk; front warm-white and rear red lights switch on</a:t>
            </a:r>
            <a:endParaRPr lang="en-US" sz="1200" dirty="0"/>
          </a:p>
        </p:txBody>
      </p:sp>
      <p:sp>
        <p:nvSpPr>
          <p:cNvPr id="21" name="Text 18"/>
          <p:cNvSpPr txBox="1"/>
          <p:nvPr/>
        </p:nvSpPr>
        <p:spPr>
          <a:xfrm>
            <a:off x="3282696" y="3017520"/>
            <a:ext cx="1600200" cy="310896"/>
          </a:xfrm>
          <a:prstGeom prst="rect">
            <a:avLst/>
          </a:prstGeom>
          <a:noFill/>
          <a:ln/>
        </p:spPr>
        <p:txBody>
          <a:bodyPr wrap="square" lIns="0" tIns="0" rIns="0" bIns="0" rtlCol="0" anchor="ctr"/>
          <a:lstStyle/>
          <a:p>
            <a:pPr indent="0" marL="0">
              <a:buNone/>
            </a:pPr>
            <a:r>
              <a:rPr lang="en-US" sz="1100" b="1" dirty="0">
                <a:solidFill>
                  <a:schemeClr val="accent2"/>
                </a:solidFill>
              </a:rPr>
              <a:t>Fixes: </a:t>
            </a:r>
            <a:pPr indent="0" marL="0">
              <a:buNone/>
            </a:pPr>
            <a:r>
              <a:rPr lang="en-US" sz="1100" dirty="0">
                <a:solidFill>
                  <a:schemeClr val="tx1"/>
                </a:solidFill>
              </a:rPr>
              <a:t>Low visibility</a:t>
            </a:r>
            <a:endParaRPr lang="en-US" sz="1100" dirty="0"/>
          </a:p>
        </p:txBody>
      </p:sp>
      <p:sp>
        <p:nvSpPr>
          <p:cNvPr id="22" name="Shape 19"/>
          <p:cNvSpPr/>
          <p:nvPr/>
        </p:nvSpPr>
        <p:spPr>
          <a:xfrm>
            <a:off x="5074920" y="1280160"/>
            <a:ext cx="1810512" cy="2103120"/>
          </a:xfrm>
          <a:prstGeom prst="roundRect">
            <a:avLst>
              <a:gd name="adj" fmla="val 4040"/>
            </a:avLst>
          </a:prstGeom>
          <a:solidFill>
            <a:schemeClr val="bg2"/>
          </a:solidFill>
          <a:ln w="12700">
            <a:solidFill>
              <a:schemeClr val="bg2"/>
            </a:solidFill>
            <a:prstDash val="solid"/>
          </a:ln>
        </p:spPr>
      </p:sp>
      <p:sp>
        <p:nvSpPr>
          <p:cNvPr id="23" name="Crash alert circle"/>
          <p:cNvSpPr/>
          <p:nvPr/>
        </p:nvSpPr>
        <p:spPr>
          <a:xfrm>
            <a:off x="5202936" y="1389888"/>
            <a:ext cx="502920" cy="502920"/>
          </a:xfrm>
          <a:prstGeom prst="ellipse">
            <a:avLst/>
          </a:prstGeom>
          <a:solidFill>
            <a:schemeClr val="accent1"/>
          </a:solidFill>
          <a:ln w="12700">
            <a:solidFill>
              <a:schemeClr val="accent1"/>
            </a:solidFill>
            <a:prstDash val="solid"/>
          </a:ln>
        </p:spPr>
      </p:sp>
      <p:pic>
        <p:nvPicPr>
          <p:cNvPr id="24" name="Crash alert icon" descr="Crash alert">    </p:cNvPr>
          <p:cNvPicPr>
            <a:picLocks noChangeAspect="1"/>
          </p:cNvPicPr>
          <p:nvPr/>
        </p:nvPicPr>
        <p:blipFill>
          <a:blip r:embed="rId2"/>
          <a:stretch>
            <a:fillRect/>
          </a:stretch>
        </p:blipFill>
        <p:spPr>
          <a:xfrm>
            <a:off x="5323637" y="1510589"/>
            <a:ext cx="261518" cy="261518"/>
          </a:xfrm>
          <a:prstGeom prst="rect">
            <a:avLst/>
          </a:prstGeom>
        </p:spPr>
      </p:pic>
      <p:sp>
        <p:nvSpPr>
          <p:cNvPr id="25" name="Text 21"/>
          <p:cNvSpPr txBox="1"/>
          <p:nvPr/>
        </p:nvSpPr>
        <p:spPr>
          <a:xfrm>
            <a:off x="5202936" y="1938528"/>
            <a:ext cx="1600200" cy="292608"/>
          </a:xfrm>
          <a:prstGeom prst="rect">
            <a:avLst/>
          </a:prstGeom>
          <a:noFill/>
          <a:ln/>
        </p:spPr>
        <p:txBody>
          <a:bodyPr wrap="square" lIns="0" tIns="0" rIns="0" bIns="0" rtlCol="0" anchor="ctr"/>
          <a:lstStyle/>
          <a:p>
            <a:pPr indent="0" marL="0">
              <a:buNone/>
            </a:pPr>
            <a:r>
              <a:rPr lang="en-US" sz="1400" b="1" dirty="0">
                <a:solidFill>
                  <a:schemeClr val="tx2"/>
                </a:solidFill>
              </a:rPr>
              <a:t>Crash alert</a:t>
            </a:r>
            <a:endParaRPr lang="en-US" sz="1400" dirty="0"/>
          </a:p>
        </p:txBody>
      </p:sp>
      <p:sp>
        <p:nvSpPr>
          <p:cNvPr id="26" name="Text 22"/>
          <p:cNvSpPr txBox="1"/>
          <p:nvPr/>
        </p:nvSpPr>
        <p:spPr>
          <a:xfrm>
            <a:off x="5202936" y="2249424"/>
            <a:ext cx="1600200" cy="768096"/>
          </a:xfrm>
          <a:prstGeom prst="rect">
            <a:avLst/>
          </a:prstGeom>
          <a:noFill/>
          <a:ln/>
        </p:spPr>
        <p:txBody>
          <a:bodyPr wrap="square" lIns="0" tIns="0" rIns="0" bIns="0" rtlCol="0" anchor="t"/>
          <a:lstStyle/>
          <a:p>
            <a:pPr indent="0" marL="0">
              <a:buNone/>
            </a:pPr>
            <a:r>
              <a:rPr lang="en-US" sz="1200" dirty="0">
                <a:solidFill>
                  <a:schemeClr val="tx1"/>
                </a:solidFill>
              </a:rPr>
              <a:t>Impact + stillness → 10 s buzzer → SMS with GPS to contact</a:t>
            </a:r>
            <a:endParaRPr lang="en-US" sz="1200" dirty="0"/>
          </a:p>
        </p:txBody>
      </p:sp>
      <p:sp>
        <p:nvSpPr>
          <p:cNvPr id="27" name="Text 23"/>
          <p:cNvSpPr txBox="1"/>
          <p:nvPr/>
        </p:nvSpPr>
        <p:spPr>
          <a:xfrm>
            <a:off x="5202936" y="3017520"/>
            <a:ext cx="1600200" cy="310896"/>
          </a:xfrm>
          <a:prstGeom prst="rect">
            <a:avLst/>
          </a:prstGeom>
          <a:noFill/>
          <a:ln/>
        </p:spPr>
        <p:txBody>
          <a:bodyPr wrap="square" lIns="0" tIns="0" rIns="0" bIns="0" rtlCol="0" anchor="ctr"/>
          <a:lstStyle/>
          <a:p>
            <a:pPr indent="0" marL="0">
              <a:buNone/>
            </a:pPr>
            <a:r>
              <a:rPr lang="en-US" sz="1100" b="1" dirty="0">
                <a:solidFill>
                  <a:schemeClr val="accent2"/>
                </a:solidFill>
              </a:rPr>
              <a:t>Fixes: </a:t>
            </a:r>
            <a:pPr indent="0" marL="0">
              <a:buNone/>
            </a:pPr>
            <a:r>
              <a:rPr lang="en-US" sz="1100" dirty="0">
                <a:solidFill>
                  <a:schemeClr val="tx1"/>
                </a:solidFill>
              </a:rPr>
              <a:t>Nobody calls for help</a:t>
            </a:r>
            <a:endParaRPr lang="en-US" sz="1100" dirty="0"/>
          </a:p>
        </p:txBody>
      </p:sp>
      <p:sp>
        <p:nvSpPr>
          <p:cNvPr id="28" name="Shape 24"/>
          <p:cNvSpPr/>
          <p:nvPr/>
        </p:nvSpPr>
        <p:spPr>
          <a:xfrm>
            <a:off x="6995160" y="1280160"/>
            <a:ext cx="1810512" cy="2103120"/>
          </a:xfrm>
          <a:prstGeom prst="roundRect">
            <a:avLst>
              <a:gd name="adj" fmla="val 4040"/>
            </a:avLst>
          </a:prstGeom>
          <a:solidFill>
            <a:schemeClr val="bg2"/>
          </a:solidFill>
          <a:ln w="12700">
            <a:solidFill>
              <a:schemeClr val="bg2"/>
            </a:solidFill>
            <a:prstDash val="solid"/>
          </a:ln>
        </p:spPr>
      </p:sp>
      <p:sp>
        <p:nvSpPr>
          <p:cNvPr id="29" name="Session tracking circle"/>
          <p:cNvSpPr/>
          <p:nvPr/>
        </p:nvSpPr>
        <p:spPr>
          <a:xfrm>
            <a:off x="7123176" y="1389888"/>
            <a:ext cx="502920" cy="502920"/>
          </a:xfrm>
          <a:prstGeom prst="ellipse">
            <a:avLst/>
          </a:prstGeom>
          <a:solidFill>
            <a:schemeClr val="accent1"/>
          </a:solidFill>
          <a:ln w="12700">
            <a:solidFill>
              <a:schemeClr val="accent1"/>
            </a:solidFill>
            <a:prstDash val="solid"/>
          </a:ln>
        </p:spPr>
      </p:sp>
      <p:pic>
        <p:nvPicPr>
          <p:cNvPr id="30" name="Session tracking icon" descr="Session tracking">    </p:cNvPr>
          <p:cNvPicPr>
            <a:picLocks noChangeAspect="1"/>
          </p:cNvPicPr>
          <p:nvPr/>
        </p:nvPicPr>
        <p:blipFill>
          <a:blip r:embed="rId3"/>
          <a:stretch>
            <a:fillRect/>
          </a:stretch>
        </p:blipFill>
        <p:spPr>
          <a:xfrm>
            <a:off x="7243877" y="1510589"/>
            <a:ext cx="261518" cy="261518"/>
          </a:xfrm>
          <a:prstGeom prst="rect">
            <a:avLst/>
          </a:prstGeom>
        </p:spPr>
      </p:pic>
      <p:sp>
        <p:nvSpPr>
          <p:cNvPr id="31" name="Text 26"/>
          <p:cNvSpPr txBox="1"/>
          <p:nvPr/>
        </p:nvSpPr>
        <p:spPr>
          <a:xfrm>
            <a:off x="7123176" y="1938528"/>
            <a:ext cx="1600200" cy="292608"/>
          </a:xfrm>
          <a:prstGeom prst="rect">
            <a:avLst/>
          </a:prstGeom>
          <a:noFill/>
          <a:ln/>
        </p:spPr>
        <p:txBody>
          <a:bodyPr wrap="square" lIns="0" tIns="0" rIns="0" bIns="0" rtlCol="0" anchor="ctr"/>
          <a:lstStyle/>
          <a:p>
            <a:pPr indent="0" marL="0">
              <a:buNone/>
            </a:pPr>
            <a:r>
              <a:rPr lang="en-US" sz="1400" b="1" dirty="0">
                <a:solidFill>
                  <a:schemeClr val="tx2"/>
                </a:solidFill>
              </a:rPr>
              <a:t>Session tracking</a:t>
            </a:r>
            <a:endParaRPr lang="en-US" sz="1400" dirty="0"/>
          </a:p>
        </p:txBody>
      </p:sp>
      <p:sp>
        <p:nvSpPr>
          <p:cNvPr id="32" name="Text 27"/>
          <p:cNvSpPr txBox="1"/>
          <p:nvPr/>
        </p:nvSpPr>
        <p:spPr>
          <a:xfrm>
            <a:off x="7123176" y="2249424"/>
            <a:ext cx="1600200" cy="768096"/>
          </a:xfrm>
          <a:prstGeom prst="rect">
            <a:avLst/>
          </a:prstGeom>
          <a:noFill/>
          <a:ln/>
        </p:spPr>
        <p:txBody>
          <a:bodyPr wrap="square" lIns="0" tIns="0" rIns="0" bIns="0" rtlCol="0" anchor="t"/>
          <a:lstStyle/>
          <a:p>
            <a:pPr indent="0" marL="0">
              <a:buNone/>
            </a:pPr>
            <a:r>
              <a:rPr lang="en-US" sz="1200" dirty="0">
                <a:solidFill>
                  <a:schemeClr val="tx1"/>
                </a:solidFill>
              </a:rPr>
              <a:t>BLE to phone: route, duration, distance, hard braking</a:t>
            </a:r>
            <a:endParaRPr lang="en-US" sz="1200" dirty="0"/>
          </a:p>
        </p:txBody>
      </p:sp>
      <p:sp>
        <p:nvSpPr>
          <p:cNvPr id="33" name="Text 28"/>
          <p:cNvSpPr txBox="1"/>
          <p:nvPr/>
        </p:nvSpPr>
        <p:spPr>
          <a:xfrm>
            <a:off x="7123176" y="3017520"/>
            <a:ext cx="1600200" cy="310896"/>
          </a:xfrm>
          <a:prstGeom prst="rect">
            <a:avLst/>
          </a:prstGeom>
          <a:noFill/>
          <a:ln/>
        </p:spPr>
        <p:txBody>
          <a:bodyPr wrap="square" lIns="0" tIns="0" rIns="0" bIns="0" rtlCol="0" anchor="ctr"/>
          <a:lstStyle/>
          <a:p>
            <a:pPr indent="0" marL="0">
              <a:buNone/>
            </a:pPr>
            <a:r>
              <a:rPr lang="en-US" sz="1100" b="1" dirty="0">
                <a:solidFill>
                  <a:schemeClr val="accent2"/>
                </a:solidFill>
              </a:rPr>
              <a:t>Fixes: </a:t>
            </a:r>
            <a:pPr indent="0" marL="0">
              <a:buNone/>
            </a:pPr>
            <a:r>
              <a:rPr lang="en-US" sz="1100" dirty="0">
                <a:solidFill>
                  <a:schemeClr val="tx1"/>
                </a:solidFill>
              </a:rPr>
              <a:t>No ride record</a:t>
            </a:r>
            <a:endParaRPr lang="en-US" sz="1100" dirty="0"/>
          </a:p>
        </p:txBody>
      </p:sp>
      <p:sp>
        <p:nvSpPr>
          <p:cNvPr id="34" name="Text 29"/>
          <p:cNvSpPr txBox="1"/>
          <p:nvPr/>
        </p:nvSpPr>
        <p:spPr>
          <a:xfrm>
            <a:off x="3154680" y="3520440"/>
            <a:ext cx="566928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INNOVATION AND UNIQUENESS</a:t>
            </a:r>
            <a:endParaRPr lang="en-US" sz="1200" dirty="0"/>
          </a:p>
        </p:txBody>
      </p:sp>
      <p:sp>
        <p:nvSpPr>
          <p:cNvPr id="35" name="Text 30"/>
          <p:cNvSpPr txBox="1"/>
          <p:nvPr/>
        </p:nvSpPr>
        <p:spPr>
          <a:xfrm>
            <a:off x="3154680" y="3813048"/>
            <a:ext cx="1810512" cy="868680"/>
          </a:xfrm>
          <a:prstGeom prst="roundRect">
            <a:avLst>
              <a:gd name="adj" fmla="val 8421"/>
            </a:avLst>
          </a:prstGeom>
          <a:solidFill>
            <a:schemeClr val="tx2"/>
          </a:solidFill>
          <a:ln/>
        </p:spPr>
        <p:txBody>
          <a:bodyPr wrap="square" lIns="101600" tIns="101600" rIns="101600" bIns="101600" rtlCol="0" anchor="ctr"/>
          <a:lstStyle/>
          <a:p>
            <a:pPr algn="l" indent="0" marL="0">
              <a:buNone/>
            </a:pPr>
            <a:r>
              <a:rPr lang="en-US" sz="1200" b="1" dirty="0">
                <a:solidFill>
                  <a:schemeClr val="bg1"/>
                </a:solidFill>
              </a:rPr>
              <a:t>Phone provides GPS + SMS: no SIM or GPS module in the helmet</a:t>
            </a:r>
            <a:endParaRPr lang="en-US" sz="1200" dirty="0"/>
          </a:p>
        </p:txBody>
      </p:sp>
      <p:sp>
        <p:nvSpPr>
          <p:cNvPr id="36" name="Text 31"/>
          <p:cNvSpPr txBox="1"/>
          <p:nvPr/>
        </p:nvSpPr>
        <p:spPr>
          <a:xfrm>
            <a:off x="5074920" y="3813048"/>
            <a:ext cx="1810512" cy="868680"/>
          </a:xfrm>
          <a:prstGeom prst="roundRect">
            <a:avLst>
              <a:gd name="adj" fmla="val 8421"/>
            </a:avLst>
          </a:prstGeom>
          <a:solidFill>
            <a:schemeClr val="tx2"/>
          </a:solidFill>
          <a:ln/>
        </p:spPr>
        <p:txBody>
          <a:bodyPr wrap="square" lIns="101600" tIns="101600" rIns="101600" bIns="101600" rtlCol="0" anchor="ctr"/>
          <a:lstStyle/>
          <a:p>
            <a:pPr algn="l" indent="0" marL="0">
              <a:buNone/>
            </a:pPr>
            <a:r>
              <a:rPr lang="en-US" sz="1200" b="1" dirty="0">
                <a:solidFill>
                  <a:schemeClr val="bg1"/>
                </a:solidFill>
              </a:rPr>
              <a:t>10 s cancel window and stillness check cut false alarms</a:t>
            </a:r>
            <a:endParaRPr lang="en-US" sz="1200" dirty="0"/>
          </a:p>
        </p:txBody>
      </p:sp>
      <p:sp>
        <p:nvSpPr>
          <p:cNvPr id="37" name="Text 32"/>
          <p:cNvSpPr txBox="1"/>
          <p:nvPr/>
        </p:nvSpPr>
        <p:spPr>
          <a:xfrm>
            <a:off x="6995160" y="3813048"/>
            <a:ext cx="1810512" cy="868680"/>
          </a:xfrm>
          <a:prstGeom prst="roundRect">
            <a:avLst>
              <a:gd name="adj" fmla="val 8421"/>
            </a:avLst>
          </a:prstGeom>
          <a:solidFill>
            <a:schemeClr val="tx2"/>
          </a:solidFill>
          <a:ln/>
        </p:spPr>
        <p:txBody>
          <a:bodyPr wrap="square" lIns="101600" tIns="101600" rIns="101600" bIns="101600" rtlCol="0" anchor="ctr"/>
          <a:lstStyle/>
          <a:p>
            <a:pPr algn="l" indent="0" marL="0">
              <a:buNone/>
            </a:pPr>
            <a:r>
              <a:rPr lang="en-US" sz="1200" b="1" dirty="0">
                <a:solidFill>
                  <a:schemeClr val="bg1"/>
                </a:solidFill>
              </a:rPr>
              <a:t>Indicative parts cost ₹1,500–2,000; open-source</a:t>
            </a:r>
            <a:endParaRPr lang="en-US" sz="12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Technical Approach</a:t>
            </a:r>
            <a:endParaRPr lang="en-US" sz="2800" dirty="0"/>
          </a:p>
        </p:txBody>
      </p:sp>
      <p:sp>
        <p:nvSpPr>
          <p:cNvPr id="4" name="Text 2"/>
          <p:cNvSpPr txBox="1"/>
          <p:nvPr/>
        </p:nvSpPr>
        <p:spPr>
          <a:xfrm>
            <a:off x="365760" y="932688"/>
            <a:ext cx="1371600" cy="228600"/>
          </a:xfrm>
          <a:prstGeom prst="rect">
            <a:avLst/>
          </a:prstGeom>
          <a:noFill/>
          <a:ln/>
        </p:spPr>
        <p:txBody>
          <a:bodyPr wrap="square" lIns="0" tIns="0" rIns="0" bIns="0" rtlCol="0" anchor="ctr"/>
          <a:lstStyle/>
          <a:p>
            <a:pPr algn="ctr" indent="0" marL="0">
              <a:buNone/>
            </a:pPr>
            <a:r>
              <a:rPr lang="en-US" sz="1100" b="1" dirty="0">
                <a:solidFill>
                  <a:schemeClr val="accent4"/>
                </a:solidFill>
              </a:rPr>
              <a:t>INPUTS</a:t>
            </a:r>
            <a:endParaRPr lang="en-US" sz="1100" dirty="0"/>
          </a:p>
        </p:txBody>
      </p:sp>
      <p:sp>
        <p:nvSpPr>
          <p:cNvPr id="5" name="Text 3"/>
          <p:cNvSpPr txBox="1"/>
          <p:nvPr/>
        </p:nvSpPr>
        <p:spPr>
          <a:xfrm>
            <a:off x="2057400" y="932688"/>
            <a:ext cx="1508760" cy="228600"/>
          </a:xfrm>
          <a:prstGeom prst="rect">
            <a:avLst/>
          </a:prstGeom>
          <a:noFill/>
          <a:ln/>
        </p:spPr>
        <p:txBody>
          <a:bodyPr wrap="square" lIns="0" tIns="0" rIns="0" bIns="0" rtlCol="0" anchor="ctr"/>
          <a:lstStyle/>
          <a:p>
            <a:pPr algn="ctr" indent="0" marL="0">
              <a:buNone/>
            </a:pPr>
            <a:r>
              <a:rPr lang="en-US" sz="1100" b="1" dirty="0">
                <a:solidFill>
                  <a:schemeClr val="accent4"/>
                </a:solidFill>
              </a:rPr>
              <a:t>HELMET CONTROLLER</a:t>
            </a:r>
            <a:endParaRPr lang="en-US" sz="1100" dirty="0"/>
          </a:p>
        </p:txBody>
      </p:sp>
      <p:sp>
        <p:nvSpPr>
          <p:cNvPr id="6" name="Text 4"/>
          <p:cNvSpPr txBox="1"/>
          <p:nvPr/>
        </p:nvSpPr>
        <p:spPr>
          <a:xfrm>
            <a:off x="3931920" y="932688"/>
            <a:ext cx="1371600" cy="228600"/>
          </a:xfrm>
          <a:prstGeom prst="rect">
            <a:avLst/>
          </a:prstGeom>
          <a:noFill/>
          <a:ln/>
        </p:spPr>
        <p:txBody>
          <a:bodyPr wrap="square" lIns="0" tIns="0" rIns="0" bIns="0" rtlCol="0" anchor="ctr"/>
          <a:lstStyle/>
          <a:p>
            <a:pPr algn="ctr" indent="0" marL="0">
              <a:buNone/>
            </a:pPr>
            <a:r>
              <a:rPr lang="en-US" sz="1100" b="1" dirty="0">
                <a:solidFill>
                  <a:schemeClr val="accent4"/>
                </a:solidFill>
              </a:rPr>
              <a:t>OUTPUTS</a:t>
            </a:r>
            <a:endParaRPr lang="en-US" sz="1100" dirty="0"/>
          </a:p>
        </p:txBody>
      </p:sp>
      <p:sp>
        <p:nvSpPr>
          <p:cNvPr id="7" name="Text 5"/>
          <p:cNvSpPr txBox="1"/>
          <p:nvPr/>
        </p:nvSpPr>
        <p:spPr>
          <a:xfrm>
            <a:off x="365760" y="1216152"/>
            <a:ext cx="1371600" cy="530352"/>
          </a:xfrm>
          <a:prstGeom prst="roundRect">
            <a:avLst>
              <a:gd name="adj" fmla="val 10345"/>
            </a:avLst>
          </a:prstGeom>
          <a:solidFill>
            <a:schemeClr val="bg2"/>
          </a:solidFill>
          <a:ln/>
        </p:spPr>
        <p:txBody>
          <a:bodyPr wrap="square" lIns="38100" tIns="38100" rIns="38100" bIns="38100" rtlCol="0" anchor="ctr"/>
          <a:lstStyle/>
          <a:p>
            <a:pPr algn="ctr" indent="0" marL="0">
              <a:buNone/>
            </a:pPr>
            <a:r>
              <a:rPr lang="en-US" sz="1200" b="1" dirty="0">
                <a:solidFill>
                  <a:schemeClr val="tx2"/>
                </a:solidFill>
              </a:rPr>
              <a:t>LDR + 10 k</a:t>
            </a:r>
            <a:endParaRPr lang="en-US" sz="1200" dirty="0"/>
          </a:p>
        </p:txBody>
      </p:sp>
      <p:sp>
        <p:nvSpPr>
          <p:cNvPr id="8" name="Text 6"/>
          <p:cNvSpPr txBox="1"/>
          <p:nvPr/>
        </p:nvSpPr>
        <p:spPr>
          <a:xfrm>
            <a:off x="365760" y="1856232"/>
            <a:ext cx="1371600" cy="530352"/>
          </a:xfrm>
          <a:prstGeom prst="roundRect">
            <a:avLst>
              <a:gd name="adj" fmla="val 10345"/>
            </a:avLst>
          </a:prstGeom>
          <a:solidFill>
            <a:schemeClr val="bg2"/>
          </a:solidFill>
          <a:ln/>
        </p:spPr>
        <p:txBody>
          <a:bodyPr wrap="square" lIns="38100" tIns="38100" rIns="38100" bIns="38100" rtlCol="0" anchor="ctr"/>
          <a:lstStyle/>
          <a:p>
            <a:pPr algn="ctr" indent="0" marL="0">
              <a:buNone/>
            </a:pPr>
            <a:r>
              <a:rPr lang="en-US" sz="1200" b="1" dirty="0">
                <a:solidFill>
                  <a:schemeClr val="tx2"/>
                </a:solidFill>
              </a:rPr>
              <a:t>MPU6050 IMU</a:t>
            </a:r>
            <a:endParaRPr lang="en-US" sz="1200" dirty="0"/>
          </a:p>
        </p:txBody>
      </p:sp>
      <p:sp>
        <p:nvSpPr>
          <p:cNvPr id="9" name="Text 7"/>
          <p:cNvSpPr txBox="1"/>
          <p:nvPr/>
        </p:nvSpPr>
        <p:spPr>
          <a:xfrm>
            <a:off x="365760" y="2496312"/>
            <a:ext cx="1371600" cy="530352"/>
          </a:xfrm>
          <a:prstGeom prst="roundRect">
            <a:avLst>
              <a:gd name="adj" fmla="val 10345"/>
            </a:avLst>
          </a:prstGeom>
          <a:solidFill>
            <a:schemeClr val="bg2"/>
          </a:solidFill>
          <a:ln/>
        </p:spPr>
        <p:txBody>
          <a:bodyPr wrap="square" lIns="38100" tIns="38100" rIns="38100" bIns="38100" rtlCol="0" anchor="ctr"/>
          <a:lstStyle/>
          <a:p>
            <a:pPr algn="ctr" indent="0" marL="0">
              <a:buNone/>
            </a:pPr>
            <a:r>
              <a:rPr lang="en-US" sz="1100" b="1" dirty="0">
                <a:solidFill>
                  <a:schemeClr val="tx2"/>
                </a:solidFill>
              </a:rPr>
              <a:t>NEO-6M GPS (optional)</a:t>
            </a:r>
            <a:endParaRPr lang="en-US" sz="1100" dirty="0"/>
          </a:p>
        </p:txBody>
      </p:sp>
      <p:sp>
        <p:nvSpPr>
          <p:cNvPr id="10" name="Text 8"/>
          <p:cNvSpPr txBox="1"/>
          <p:nvPr/>
        </p:nvSpPr>
        <p:spPr>
          <a:xfrm>
            <a:off x="2057400" y="1216152"/>
            <a:ext cx="1508760" cy="1810512"/>
          </a:xfrm>
          <a:prstGeom prst="roundRect">
            <a:avLst>
              <a:gd name="adj" fmla="val 4848"/>
            </a:avLst>
          </a:prstGeom>
          <a:solidFill>
            <a:schemeClr val="tx2"/>
          </a:solidFill>
          <a:ln/>
        </p:spPr>
        <p:txBody>
          <a:bodyPr wrap="square" lIns="50800" tIns="50800" rIns="50800" bIns="50800" rtlCol="0" anchor="ctr"/>
          <a:lstStyle/>
          <a:p>
            <a:pPr algn="ctr" indent="0" marL="0">
              <a:buNone/>
            </a:pPr>
            <a:r>
              <a:rPr lang="en-US" sz="1600" b="1" dirty="0">
                <a:solidFill>
                  <a:schemeClr val="bg1"/>
                </a:solidFill>
              </a:rPr>
              <a:t>ESP32</a:t>
            </a:r>
            <a:endParaRPr lang="en-US" sz="1600" dirty="0"/>
          </a:p>
          <a:p>
            <a:pPr algn="ctr" indent="0" marL="0">
              <a:buNone/>
            </a:pPr>
            <a:r>
              <a:rPr lang="en-US" sz="1200" dirty="0">
                <a:solidFill>
                  <a:schemeClr val="bg1"/>
                </a:solidFill>
              </a:rPr>
              <a:t>Night mode</a:t>
            </a:r>
            <a:endParaRPr lang="en-US" sz="1600" dirty="0"/>
          </a:p>
          <a:p>
            <a:pPr algn="ctr" indent="0" marL="0">
              <a:buNone/>
            </a:pPr>
            <a:r>
              <a:rPr lang="en-US" sz="1200" dirty="0">
                <a:solidFill>
                  <a:schemeClr val="bg1"/>
                </a:solidFill>
              </a:rPr>
              <a:t>Crash state machine</a:t>
            </a:r>
            <a:endParaRPr lang="en-US" sz="1600" dirty="0"/>
          </a:p>
          <a:p>
            <a:pPr algn="ctr" indent="0" marL="0">
              <a:buNone/>
            </a:pPr>
            <a:r>
              <a:rPr lang="en-US" sz="1200" dirty="0">
                <a:solidFill>
                  <a:schemeClr val="bg1"/>
                </a:solidFill>
              </a:rPr>
              <a:t>Hard-brake detector</a:t>
            </a:r>
            <a:endParaRPr lang="en-US" sz="1600" dirty="0"/>
          </a:p>
          <a:p>
            <a:pPr algn="ctr" indent="0" marL="0">
              <a:buNone/>
            </a:pPr>
            <a:r>
              <a:rPr lang="en-US" sz="1200" dirty="0">
                <a:solidFill>
                  <a:schemeClr val="bg1"/>
                </a:solidFill>
              </a:rPr>
              <a:t>BLE server</a:t>
            </a:r>
            <a:endParaRPr lang="en-US" sz="1600" dirty="0"/>
          </a:p>
        </p:txBody>
      </p:sp>
      <p:sp>
        <p:nvSpPr>
          <p:cNvPr id="11" name="Text 9"/>
          <p:cNvSpPr txBox="1"/>
          <p:nvPr/>
        </p:nvSpPr>
        <p:spPr>
          <a:xfrm>
            <a:off x="3931920" y="1216152"/>
            <a:ext cx="1371600" cy="822960"/>
          </a:xfrm>
          <a:prstGeom prst="roundRect">
            <a:avLst>
              <a:gd name="adj" fmla="val 6667"/>
            </a:avLst>
          </a:prstGeom>
          <a:solidFill>
            <a:schemeClr val="bg2"/>
          </a:solidFill>
          <a:ln/>
        </p:spPr>
        <p:txBody>
          <a:bodyPr wrap="square" lIns="38100" tIns="38100" rIns="38100" bIns="38100" rtlCol="0" anchor="ctr"/>
          <a:lstStyle/>
          <a:p>
            <a:pPr algn="ctr" indent="0" marL="0">
              <a:buNone/>
            </a:pPr>
            <a:r>
              <a:rPr lang="en-US" sz="1100" b="1" dirty="0">
                <a:solidFill>
                  <a:schemeClr val="tx2"/>
                </a:solidFill>
              </a:rPr>
              <a:t>WS2812B ×3 front · rear · amber</a:t>
            </a:r>
            <a:endParaRPr lang="en-US" sz="1100" dirty="0"/>
          </a:p>
        </p:txBody>
      </p:sp>
      <p:sp>
        <p:nvSpPr>
          <p:cNvPr id="12" name="Text 10"/>
          <p:cNvSpPr txBox="1"/>
          <p:nvPr/>
        </p:nvSpPr>
        <p:spPr>
          <a:xfrm>
            <a:off x="3931920" y="2194560"/>
            <a:ext cx="1371600" cy="530352"/>
          </a:xfrm>
          <a:prstGeom prst="roundRect">
            <a:avLst>
              <a:gd name="adj" fmla="val 10345"/>
            </a:avLst>
          </a:prstGeom>
          <a:solidFill>
            <a:schemeClr val="bg2"/>
          </a:solidFill>
          <a:ln/>
        </p:spPr>
        <p:txBody>
          <a:bodyPr wrap="square" lIns="38100" tIns="38100" rIns="38100" bIns="38100" rtlCol="0" anchor="ctr"/>
          <a:lstStyle/>
          <a:p>
            <a:pPr algn="ctr" indent="0" marL="0">
              <a:buNone/>
            </a:pPr>
            <a:r>
              <a:rPr lang="en-US" sz="1200" b="1" dirty="0">
                <a:solidFill>
                  <a:schemeClr val="tx2"/>
                </a:solidFill>
              </a:rPr>
              <a:t>Buzzer</a:t>
            </a:r>
            <a:endParaRPr lang="en-US" sz="1200" dirty="0"/>
          </a:p>
        </p:txBody>
      </p:sp>
      <p:sp>
        <p:nvSpPr>
          <p:cNvPr id="13" name="Shape 11"/>
          <p:cNvSpPr/>
          <p:nvPr/>
        </p:nvSpPr>
        <p:spPr>
          <a:xfrm>
            <a:off x="1755648" y="1481328"/>
            <a:ext cx="283464" cy="256032"/>
          </a:xfrm>
          <a:prstGeom prst="line">
            <a:avLst/>
          </a:prstGeom>
          <a:noFill/>
          <a:ln w="22225">
            <a:solidFill>
              <a:schemeClr val="accent4"/>
            </a:solidFill>
            <a:prstDash val="solid"/>
            <a:tailEnd type="triangle"/>
          </a:ln>
        </p:spPr>
      </p:sp>
      <p:sp>
        <p:nvSpPr>
          <p:cNvPr id="14" name="Shape 12"/>
          <p:cNvSpPr/>
          <p:nvPr/>
        </p:nvSpPr>
        <p:spPr>
          <a:xfrm>
            <a:off x="1755648" y="2121408"/>
            <a:ext cx="283464" cy="0"/>
          </a:xfrm>
          <a:prstGeom prst="line">
            <a:avLst/>
          </a:prstGeom>
          <a:noFill/>
          <a:ln w="22225">
            <a:solidFill>
              <a:schemeClr val="accent4"/>
            </a:solidFill>
            <a:prstDash val="solid"/>
            <a:tailEnd type="triangle"/>
          </a:ln>
        </p:spPr>
      </p:sp>
      <p:sp>
        <p:nvSpPr>
          <p:cNvPr id="15" name="Shape 13"/>
          <p:cNvSpPr/>
          <p:nvPr/>
        </p:nvSpPr>
        <p:spPr>
          <a:xfrm flipV="1">
            <a:off x="1755648" y="2514600"/>
            <a:ext cx="283464" cy="246888"/>
          </a:xfrm>
          <a:prstGeom prst="line">
            <a:avLst/>
          </a:prstGeom>
          <a:noFill/>
          <a:ln w="22225">
            <a:solidFill>
              <a:schemeClr val="accent4"/>
            </a:solidFill>
            <a:prstDash val="solid"/>
            <a:tailEnd type="triangle"/>
          </a:ln>
        </p:spPr>
      </p:sp>
      <p:sp>
        <p:nvSpPr>
          <p:cNvPr id="16" name="Shape 14"/>
          <p:cNvSpPr/>
          <p:nvPr/>
        </p:nvSpPr>
        <p:spPr>
          <a:xfrm>
            <a:off x="3584448" y="1645920"/>
            <a:ext cx="329184" cy="0"/>
          </a:xfrm>
          <a:prstGeom prst="line">
            <a:avLst/>
          </a:prstGeom>
          <a:noFill/>
          <a:ln w="22225">
            <a:solidFill>
              <a:schemeClr val="accent4"/>
            </a:solidFill>
            <a:prstDash val="solid"/>
            <a:tailEnd type="triangle"/>
          </a:ln>
        </p:spPr>
      </p:sp>
      <p:sp>
        <p:nvSpPr>
          <p:cNvPr id="17" name="Shape 15"/>
          <p:cNvSpPr/>
          <p:nvPr/>
        </p:nvSpPr>
        <p:spPr>
          <a:xfrm>
            <a:off x="3584448" y="2459736"/>
            <a:ext cx="329184" cy="0"/>
          </a:xfrm>
          <a:prstGeom prst="line">
            <a:avLst/>
          </a:prstGeom>
          <a:noFill/>
          <a:ln w="22225">
            <a:solidFill>
              <a:schemeClr val="accent4"/>
            </a:solidFill>
            <a:prstDash val="solid"/>
            <a:tailEnd type="triangle"/>
          </a:ln>
        </p:spPr>
      </p:sp>
      <p:sp>
        <p:nvSpPr>
          <p:cNvPr id="18" name="Shape 16"/>
          <p:cNvSpPr/>
          <p:nvPr/>
        </p:nvSpPr>
        <p:spPr>
          <a:xfrm>
            <a:off x="2807208" y="3044952"/>
            <a:ext cx="0" cy="265176"/>
          </a:xfrm>
          <a:prstGeom prst="line">
            <a:avLst/>
          </a:prstGeom>
          <a:noFill/>
          <a:ln w="22225">
            <a:solidFill>
              <a:schemeClr val="accent4"/>
            </a:solidFill>
            <a:prstDash val="solid"/>
            <a:headEnd type="triangle"/>
            <a:tailEnd type="triangle"/>
          </a:ln>
        </p:spPr>
      </p:sp>
      <p:sp>
        <p:nvSpPr>
          <p:cNvPr id="19" name="Text 17"/>
          <p:cNvSpPr txBox="1"/>
          <p:nvPr/>
        </p:nvSpPr>
        <p:spPr>
          <a:xfrm>
            <a:off x="2880360" y="3017520"/>
            <a:ext cx="548640" cy="274320"/>
          </a:xfrm>
          <a:prstGeom prst="rect">
            <a:avLst/>
          </a:prstGeom>
          <a:noFill/>
          <a:ln/>
        </p:spPr>
        <p:txBody>
          <a:bodyPr wrap="square" lIns="0" tIns="0" rIns="0" bIns="0" rtlCol="0" anchor="ctr"/>
          <a:lstStyle/>
          <a:p>
            <a:pPr indent="0" marL="0">
              <a:buNone/>
            </a:pPr>
            <a:r>
              <a:rPr lang="en-US" sz="1100" b="1" dirty="0">
                <a:solidFill>
                  <a:schemeClr val="accent2"/>
                </a:solidFill>
              </a:rPr>
              <a:t>BLE</a:t>
            </a:r>
            <a:endParaRPr lang="en-US" sz="1100" dirty="0"/>
          </a:p>
        </p:txBody>
      </p:sp>
      <p:sp>
        <p:nvSpPr>
          <p:cNvPr id="20" name="Text 18"/>
          <p:cNvSpPr txBox="1"/>
          <p:nvPr/>
        </p:nvSpPr>
        <p:spPr>
          <a:xfrm>
            <a:off x="365760" y="3328416"/>
            <a:ext cx="4937760" cy="457200"/>
          </a:xfrm>
          <a:prstGeom prst="roundRect">
            <a:avLst>
              <a:gd name="adj" fmla="val 12000"/>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Android app (Kotlin): BLE · phone GPS · SMS · session log</a:t>
            </a:r>
            <a:endParaRPr lang="en-US" sz="1300" dirty="0"/>
          </a:p>
        </p:txBody>
      </p:sp>
      <p:sp>
        <p:nvSpPr>
          <p:cNvPr id="21" name="Text 19"/>
          <p:cNvSpPr txBox="1"/>
          <p:nvPr/>
        </p:nvSpPr>
        <p:spPr>
          <a:xfrm>
            <a:off x="365760" y="4005072"/>
            <a:ext cx="1170432" cy="566928"/>
          </a:xfrm>
          <a:prstGeom prst="chevron">
            <a:avLst/>
          </a:prstGeom>
          <a:solidFill>
            <a:schemeClr val="tx2"/>
          </a:solidFill>
          <a:ln/>
        </p:spPr>
        <p:txBody>
          <a:bodyPr wrap="square" lIns="0" tIns="0" rIns="0" bIns="0" rtlCol="0" anchor="ctr"/>
          <a:lstStyle/>
          <a:p>
            <a:pPr algn="ctr" indent="0" marL="0">
              <a:buNone/>
            </a:pPr>
            <a:r>
              <a:rPr lang="en-US" sz="1000" b="1" dirty="0">
                <a:solidFill>
                  <a:schemeClr val="bg1"/>
                </a:solidFill>
              </a:rPr>
              <a:t>Spike ≥ 4 g</a:t>
            </a:r>
            <a:endParaRPr lang="en-US" sz="1000" dirty="0"/>
          </a:p>
        </p:txBody>
      </p:sp>
      <p:sp>
        <p:nvSpPr>
          <p:cNvPr id="22" name="Text 20"/>
          <p:cNvSpPr txBox="1"/>
          <p:nvPr/>
        </p:nvSpPr>
        <p:spPr>
          <a:xfrm>
            <a:off x="1371600" y="4005072"/>
            <a:ext cx="1170432" cy="566928"/>
          </a:xfrm>
          <a:prstGeom prst="chevron">
            <a:avLst/>
          </a:prstGeom>
          <a:solidFill>
            <a:schemeClr val="tx2"/>
          </a:solidFill>
          <a:ln/>
        </p:spPr>
        <p:txBody>
          <a:bodyPr wrap="square" lIns="0" tIns="0" rIns="0" bIns="0" rtlCol="0" anchor="ctr"/>
          <a:lstStyle/>
          <a:p>
            <a:pPr algn="ctr" indent="0" marL="0">
              <a:buNone/>
            </a:pPr>
            <a:r>
              <a:rPr lang="en-US" sz="1000" b="1" dirty="0">
                <a:solidFill>
                  <a:schemeClr val="bg1"/>
                </a:solidFill>
              </a:rPr>
              <a:t>Still 2 s</a:t>
            </a:r>
            <a:endParaRPr lang="en-US" sz="1000" dirty="0"/>
          </a:p>
        </p:txBody>
      </p:sp>
      <p:sp>
        <p:nvSpPr>
          <p:cNvPr id="23" name="Text 21"/>
          <p:cNvSpPr txBox="1"/>
          <p:nvPr/>
        </p:nvSpPr>
        <p:spPr>
          <a:xfrm>
            <a:off x="2377440" y="4005072"/>
            <a:ext cx="1170432" cy="566928"/>
          </a:xfrm>
          <a:prstGeom prst="chevron">
            <a:avLst/>
          </a:prstGeom>
          <a:solidFill>
            <a:schemeClr val="tx2"/>
          </a:solidFill>
          <a:ln/>
        </p:spPr>
        <p:txBody>
          <a:bodyPr wrap="square" lIns="0" tIns="0" rIns="0" bIns="0" rtlCol="0" anchor="ctr"/>
          <a:lstStyle/>
          <a:p>
            <a:pPr algn="ctr" indent="0" marL="0">
              <a:buNone/>
            </a:pPr>
            <a:r>
              <a:rPr lang="en-US" sz="1000" b="1" dirty="0">
                <a:solidFill>
                  <a:schemeClr val="bg1"/>
                </a:solidFill>
              </a:rPr>
              <a:t>Buzzer 10 s</a:t>
            </a:r>
            <a:endParaRPr lang="en-US" sz="1000" dirty="0"/>
          </a:p>
        </p:txBody>
      </p:sp>
      <p:sp>
        <p:nvSpPr>
          <p:cNvPr id="24" name="Text 22"/>
          <p:cNvSpPr txBox="1"/>
          <p:nvPr/>
        </p:nvSpPr>
        <p:spPr>
          <a:xfrm>
            <a:off x="3383280" y="4005072"/>
            <a:ext cx="1170432" cy="566928"/>
          </a:xfrm>
          <a:prstGeom prst="chevron">
            <a:avLst/>
          </a:prstGeom>
          <a:solidFill>
            <a:schemeClr val="tx2"/>
          </a:solidFill>
          <a:ln/>
        </p:spPr>
        <p:txBody>
          <a:bodyPr wrap="square" lIns="0" tIns="0" rIns="0" bIns="0" rtlCol="0" anchor="ctr"/>
          <a:lstStyle/>
          <a:p>
            <a:pPr algn="ctr" indent="0" marL="0">
              <a:buNone/>
            </a:pPr>
            <a:r>
              <a:rPr lang="en-US" sz="1000" b="1" dirty="0">
                <a:solidFill>
                  <a:schemeClr val="bg1"/>
                </a:solidFill>
              </a:rPr>
              <a:t>Cancel?</a:t>
            </a:r>
            <a:endParaRPr lang="en-US" sz="1000" dirty="0"/>
          </a:p>
        </p:txBody>
      </p:sp>
      <p:sp>
        <p:nvSpPr>
          <p:cNvPr id="25" name="Text 23"/>
          <p:cNvSpPr txBox="1"/>
          <p:nvPr/>
        </p:nvSpPr>
        <p:spPr>
          <a:xfrm>
            <a:off x="4389120" y="4005072"/>
            <a:ext cx="1170432" cy="566928"/>
          </a:xfrm>
          <a:prstGeom prst="chevron">
            <a:avLst/>
          </a:prstGeom>
          <a:solidFill>
            <a:schemeClr val="accent2"/>
          </a:solidFill>
          <a:ln/>
        </p:spPr>
        <p:txBody>
          <a:bodyPr wrap="square" lIns="0" tIns="0" rIns="0" bIns="0" rtlCol="0" anchor="ctr"/>
          <a:lstStyle/>
          <a:p>
            <a:pPr algn="ctr" indent="0" marL="0">
              <a:buNone/>
            </a:pPr>
            <a:r>
              <a:rPr lang="en-US" sz="1000" b="1" dirty="0">
                <a:solidFill>
                  <a:schemeClr val="bg1"/>
                </a:solidFill>
              </a:rPr>
              <a:t>SMS + GPS</a:t>
            </a:r>
            <a:endParaRPr lang="en-US" sz="1000" dirty="0"/>
          </a:p>
        </p:txBody>
      </p:sp>
      <p:sp>
        <p:nvSpPr>
          <p:cNvPr id="26" name="Text 24"/>
          <p:cNvSpPr txBox="1"/>
          <p:nvPr/>
        </p:nvSpPr>
        <p:spPr>
          <a:xfrm>
            <a:off x="365760" y="4590288"/>
            <a:ext cx="1828800" cy="201168"/>
          </a:xfrm>
          <a:prstGeom prst="rect">
            <a:avLst/>
          </a:prstGeom>
          <a:noFill/>
          <a:ln/>
        </p:spPr>
        <p:txBody>
          <a:bodyPr wrap="square" lIns="0" tIns="0" rIns="0" bIns="0" rtlCol="0" anchor="ctr"/>
          <a:lstStyle/>
          <a:p>
            <a:pPr indent="0" marL="0">
              <a:buNone/>
            </a:pPr>
            <a:r>
              <a:rPr lang="en-US" sz="1000" i="1" dirty="0">
                <a:solidFill>
                  <a:schemeClr val="accent4"/>
                </a:solidFill>
              </a:rPr>
              <a:t>Crash flow</a:t>
            </a:r>
            <a:endParaRPr lang="en-US" sz="1000" dirty="0"/>
          </a:p>
        </p:txBody>
      </p:sp>
      <p:sp>
        <p:nvSpPr>
          <p:cNvPr id="27" name="Shape 25"/>
          <p:cNvSpPr/>
          <p:nvPr/>
        </p:nvSpPr>
        <p:spPr>
          <a:xfrm>
            <a:off x="5669280" y="932688"/>
            <a:ext cx="3108960" cy="3794760"/>
          </a:xfrm>
          <a:prstGeom prst="roundRect">
            <a:avLst>
              <a:gd name="adj" fmla="val 2353"/>
            </a:avLst>
          </a:prstGeom>
          <a:solidFill>
            <a:schemeClr val="bg2"/>
          </a:solidFill>
          <a:ln w="12700">
            <a:solidFill>
              <a:schemeClr val="bg2"/>
            </a:solidFill>
            <a:prstDash val="solid"/>
          </a:ln>
        </p:spPr>
      </p:sp>
      <p:sp>
        <p:nvSpPr>
          <p:cNvPr id="28" name="Text 26"/>
          <p:cNvSpPr txBox="1"/>
          <p:nvPr/>
        </p:nvSpPr>
        <p:spPr>
          <a:xfrm>
            <a:off x="5833872" y="1024128"/>
            <a:ext cx="2834640" cy="228600"/>
          </a:xfrm>
          <a:prstGeom prst="rect">
            <a:avLst/>
          </a:prstGeom>
          <a:noFill/>
          <a:ln/>
        </p:spPr>
        <p:txBody>
          <a:bodyPr wrap="square" lIns="0" tIns="0" rIns="0" bIns="0" rtlCol="0" anchor="ctr"/>
          <a:lstStyle/>
          <a:p>
            <a:pPr indent="0" marL="0">
              <a:buNone/>
            </a:pPr>
            <a:r>
              <a:rPr lang="en-US" sz="1100" b="1" dirty="0">
                <a:solidFill>
                  <a:schemeClr val="accent2"/>
                </a:solidFill>
              </a:rPr>
              <a:t>TECHNOLOGIES</a:t>
            </a:r>
            <a:endParaRPr lang="en-US" sz="1100" dirty="0"/>
          </a:p>
        </p:txBody>
      </p:sp>
      <p:sp>
        <p:nvSpPr>
          <p:cNvPr id="29" name="Text 27"/>
          <p:cNvSpPr txBox="1"/>
          <p:nvPr/>
        </p:nvSpPr>
        <p:spPr>
          <a:xfrm>
            <a:off x="5833872" y="1271016"/>
            <a:ext cx="2834640" cy="777240"/>
          </a:xfrm>
          <a:prstGeom prst="rect">
            <a:avLst/>
          </a:prstGeom>
          <a:noFill/>
          <a:ln/>
        </p:spPr>
        <p:txBody>
          <a:bodyPr wrap="square" lIns="0" tIns="0" rIns="0" bIns="0" rtlCol="0" anchor="t"/>
          <a:lstStyle/>
          <a:p>
            <a:pPr indent="0" marL="0">
              <a:buNone/>
            </a:pPr>
            <a:r>
              <a:rPr lang="en-US" sz="1200" dirty="0">
                <a:solidFill>
                  <a:schemeClr val="tx1"/>
                </a:solidFill>
              </a:rPr>
              <a:t>C++ / Arduino-ESP32 (PlatformIO)</a:t>
            </a:r>
            <a:endParaRPr lang="en-US" sz="1200" dirty="0"/>
          </a:p>
          <a:p>
            <a:pPr indent="0" marL="0">
              <a:buNone/>
            </a:pPr>
            <a:r>
              <a:rPr lang="en-US" sz="1200" dirty="0">
                <a:solidFill>
                  <a:schemeClr val="tx1"/>
                </a:solidFill>
              </a:rPr>
              <a:t>Kotlin, Android BLE + SmsManager</a:t>
            </a:r>
            <a:endParaRPr lang="en-US" sz="1200" dirty="0"/>
          </a:p>
          <a:p>
            <a:pPr indent="0" marL="0">
              <a:buNone/>
            </a:pPr>
            <a:r>
              <a:rPr lang="en-US" sz="1200" dirty="0">
                <a:solidFill>
                  <a:schemeClr val="tx1"/>
                </a:solidFill>
              </a:rPr>
              <a:t>JSON over BLE GATT</a:t>
            </a:r>
            <a:endParaRPr lang="en-US" sz="1200" dirty="0"/>
          </a:p>
        </p:txBody>
      </p:sp>
      <p:sp>
        <p:nvSpPr>
          <p:cNvPr id="30" name="Text 28"/>
          <p:cNvSpPr txBox="1"/>
          <p:nvPr/>
        </p:nvSpPr>
        <p:spPr>
          <a:xfrm>
            <a:off x="5833872" y="2167128"/>
            <a:ext cx="2834640" cy="228600"/>
          </a:xfrm>
          <a:prstGeom prst="rect">
            <a:avLst/>
          </a:prstGeom>
          <a:noFill/>
          <a:ln/>
        </p:spPr>
        <p:txBody>
          <a:bodyPr wrap="square" lIns="0" tIns="0" rIns="0" bIns="0" rtlCol="0" anchor="ctr"/>
          <a:lstStyle/>
          <a:p>
            <a:pPr indent="0" marL="0">
              <a:buNone/>
            </a:pPr>
            <a:r>
              <a:rPr lang="en-US" sz="1100" b="1" dirty="0">
                <a:solidFill>
                  <a:schemeClr val="accent2"/>
                </a:solidFill>
              </a:rPr>
              <a:t>GITHUB / GITLAB</a:t>
            </a:r>
            <a:endParaRPr lang="en-US" sz="1100" dirty="0"/>
          </a:p>
        </p:txBody>
      </p:sp>
      <p:sp>
        <p:nvSpPr>
          <p:cNvPr id="31" name="Text 29"/>
          <p:cNvSpPr txBox="1"/>
          <p:nvPr/>
        </p:nvSpPr>
        <p:spPr>
          <a:xfrm>
            <a:off x="5833872" y="2414016"/>
            <a:ext cx="2834640" cy="457200"/>
          </a:xfrm>
          <a:prstGeom prst="rect">
            <a:avLst/>
          </a:prstGeom>
          <a:noFill/>
          <a:ln/>
        </p:spPr>
        <p:txBody>
          <a:bodyPr wrap="square" lIns="0" tIns="0" rIns="0" bIns="0" rtlCol="0" anchor="t"/>
          <a:lstStyle/>
          <a:p>
            <a:pPr indent="0" marL="0">
              <a:buNone/>
            </a:pPr>
            <a:r>
              <a:rPr lang="en-US" sz="1200" i="1" dirty="0">
                <a:solidFill>
                  <a:schemeClr val="accent2"/>
                </a:solidFill>
              </a:rPr>
              <a:t>github.com/[user]/smart-helmet-light</a:t>
            </a:r>
            <a:endParaRPr lang="en-US" sz="1200" dirty="0"/>
          </a:p>
        </p:txBody>
      </p:sp>
      <p:sp>
        <p:nvSpPr>
          <p:cNvPr id="32" name="Text 30"/>
          <p:cNvSpPr txBox="1"/>
          <p:nvPr/>
        </p:nvSpPr>
        <p:spPr>
          <a:xfrm>
            <a:off x="5833872" y="2990088"/>
            <a:ext cx="2834640" cy="228600"/>
          </a:xfrm>
          <a:prstGeom prst="rect">
            <a:avLst/>
          </a:prstGeom>
          <a:noFill/>
          <a:ln/>
        </p:spPr>
        <p:txBody>
          <a:bodyPr wrap="square" lIns="0" tIns="0" rIns="0" bIns="0" rtlCol="0" anchor="ctr"/>
          <a:lstStyle/>
          <a:p>
            <a:pPr indent="0" marL="0">
              <a:buNone/>
            </a:pPr>
            <a:r>
              <a:rPr lang="en-US" sz="1100" b="1" dirty="0">
                <a:solidFill>
                  <a:schemeClr val="accent2"/>
                </a:solidFill>
              </a:rPr>
              <a:t>DEMO VIDEO</a:t>
            </a:r>
            <a:endParaRPr lang="en-US" sz="1100" dirty="0"/>
          </a:p>
        </p:txBody>
      </p:sp>
      <p:sp>
        <p:nvSpPr>
          <p:cNvPr id="33" name="Text 31"/>
          <p:cNvSpPr txBox="1"/>
          <p:nvPr/>
        </p:nvSpPr>
        <p:spPr>
          <a:xfrm>
            <a:off x="5833872" y="3236976"/>
            <a:ext cx="2834640" cy="365760"/>
          </a:xfrm>
          <a:prstGeom prst="rect">
            <a:avLst/>
          </a:prstGeom>
          <a:noFill/>
          <a:ln/>
        </p:spPr>
        <p:txBody>
          <a:bodyPr wrap="square" lIns="0" tIns="0" rIns="0" bIns="0" rtlCol="0" anchor="t"/>
          <a:lstStyle/>
          <a:p>
            <a:pPr indent="0" marL="0">
              <a:buNone/>
            </a:pPr>
            <a:r>
              <a:rPr lang="en-US" sz="1200" i="1" dirty="0">
                <a:solidFill>
                  <a:schemeClr val="accent2"/>
                </a:solidFill>
              </a:rPr>
              <a:t>[video link]</a:t>
            </a:r>
            <a:endParaRPr lang="en-US" sz="1200" dirty="0"/>
          </a:p>
        </p:txBody>
      </p:sp>
      <p:sp>
        <p:nvSpPr>
          <p:cNvPr id="34" name="Text 32"/>
          <p:cNvSpPr txBox="1"/>
          <p:nvPr/>
        </p:nvSpPr>
        <p:spPr>
          <a:xfrm>
            <a:off x="5833872" y="3721608"/>
            <a:ext cx="2834640" cy="228600"/>
          </a:xfrm>
          <a:prstGeom prst="rect">
            <a:avLst/>
          </a:prstGeom>
          <a:noFill/>
          <a:ln/>
        </p:spPr>
        <p:txBody>
          <a:bodyPr wrap="square" lIns="0" tIns="0" rIns="0" bIns="0" rtlCol="0" anchor="ctr"/>
          <a:lstStyle/>
          <a:p>
            <a:pPr indent="0" marL="0">
              <a:buNone/>
            </a:pPr>
            <a:r>
              <a:rPr lang="en-US" sz="1100" b="1" dirty="0">
                <a:solidFill>
                  <a:schemeClr val="accent2"/>
                </a:solidFill>
              </a:rPr>
              <a:t>EXTENT OF AI TOOLS</a:t>
            </a:r>
            <a:endParaRPr lang="en-US" sz="1100" dirty="0"/>
          </a:p>
        </p:txBody>
      </p:sp>
      <p:sp>
        <p:nvSpPr>
          <p:cNvPr id="35" name="Text 33"/>
          <p:cNvSpPr txBox="1"/>
          <p:nvPr/>
        </p:nvSpPr>
        <p:spPr>
          <a:xfrm>
            <a:off x="5833872" y="3968496"/>
            <a:ext cx="2834640" cy="914400"/>
          </a:xfrm>
          <a:prstGeom prst="rect">
            <a:avLst/>
          </a:prstGeom>
          <a:noFill/>
          <a:ln/>
        </p:spPr>
        <p:txBody>
          <a:bodyPr wrap="square" lIns="0" tIns="0" rIns="0" bIns="0" rtlCol="0" anchor="t"/>
          <a:lstStyle/>
          <a:p>
            <a:pPr indent="0" marL="0">
              <a:buNone/>
            </a:pPr>
            <a:r>
              <a:rPr lang="en-US" sz="1200" dirty="0">
                <a:solidFill>
                  <a:schemeClr val="tx1"/>
                </a:solidFill>
              </a:rPr>
              <a:t>Claude: code scaffolding, docs, slides. Team: wiring, testing, review [edit to match]</a:t>
            </a:r>
            <a:endParaRPr lang="en-US" sz="12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Impact Potential</a:t>
            </a:r>
            <a:endParaRPr lang="en-US" sz="2800" dirty="0"/>
          </a:p>
        </p:txBody>
      </p:sp>
      <p:sp>
        <p:nvSpPr>
          <p:cNvPr id="4" name="Shape 2"/>
          <p:cNvSpPr/>
          <p:nvPr/>
        </p:nvSpPr>
        <p:spPr>
          <a:xfrm>
            <a:off x="365760" y="1005840"/>
            <a:ext cx="2697480" cy="3703320"/>
          </a:xfrm>
          <a:prstGeom prst="roundRect">
            <a:avLst>
              <a:gd name="adj" fmla="val 2712"/>
            </a:avLst>
          </a:prstGeom>
          <a:solidFill>
            <a:schemeClr val="bg2"/>
          </a:solidFill>
          <a:ln w="12700">
            <a:solidFill>
              <a:schemeClr val="bg2"/>
            </a:solidFill>
            <a:prstDash val="solid"/>
          </a:ln>
        </p:spPr>
      </p:sp>
      <p:sp>
        <p:nvSpPr>
          <p:cNvPr id="5" name="Impact on target audience circle"/>
          <p:cNvSpPr/>
          <p:nvPr/>
        </p:nvSpPr>
        <p:spPr>
          <a:xfrm>
            <a:off x="530352" y="1143000"/>
            <a:ext cx="548640" cy="548640"/>
          </a:xfrm>
          <a:prstGeom prst="ellipse">
            <a:avLst/>
          </a:prstGeom>
          <a:solidFill>
            <a:schemeClr val="accent1"/>
          </a:solidFill>
          <a:ln w="12700">
            <a:solidFill>
              <a:schemeClr val="accent1"/>
            </a:solidFill>
            <a:prstDash val="solid"/>
          </a:ln>
        </p:spPr>
      </p:sp>
      <p:pic>
        <p:nvPicPr>
          <p:cNvPr id="6" name="Impact on target audience icon" descr="Impact on target audience">    </p:cNvPr>
          <p:cNvPicPr>
            <a:picLocks noChangeAspect="1"/>
          </p:cNvPicPr>
          <p:nvPr/>
        </p:nvPicPr>
        <p:blipFill>
          <a:blip r:embed="rId1"/>
          <a:stretch>
            <a:fillRect/>
          </a:stretch>
        </p:blipFill>
        <p:spPr>
          <a:xfrm>
            <a:off x="662026" y="1274674"/>
            <a:ext cx="285293" cy="285293"/>
          </a:xfrm>
          <a:prstGeom prst="rect">
            <a:avLst/>
          </a:prstGeom>
        </p:spPr>
      </p:pic>
      <p:sp>
        <p:nvSpPr>
          <p:cNvPr id="7" name="Text 4"/>
          <p:cNvSpPr txBox="1"/>
          <p:nvPr/>
        </p:nvSpPr>
        <p:spPr>
          <a:xfrm>
            <a:off x="1188720" y="114300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Impact on target audience</a:t>
            </a:r>
            <a:endParaRPr lang="en-US" sz="1500" dirty="0"/>
          </a:p>
        </p:txBody>
      </p:sp>
      <p:sp>
        <p:nvSpPr>
          <p:cNvPr id="8" name="Text 5"/>
          <p:cNvSpPr txBox="1"/>
          <p:nvPr/>
        </p:nvSpPr>
        <p:spPr>
          <a:xfrm>
            <a:off x="530352" y="1874520"/>
            <a:ext cx="237744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Daily commuters and night riders</a:t>
            </a:r>
            <a:endParaRPr lang="en-US" sz="1400" dirty="0"/>
          </a:p>
          <a:p>
            <a:pPr marL="342900" indent="-342900">
              <a:spcAft>
                <a:spcPts val="600"/>
              </a:spcAft>
              <a:buSzPct val="100000"/>
              <a:buChar char="•"/>
            </a:pPr>
            <a:r>
              <a:rPr lang="en-US" sz="1400" dirty="0">
                <a:solidFill>
                  <a:schemeClr val="tx1"/>
                </a:solidFill>
              </a:rPr>
              <a:t>Delivery and gig riders</a:t>
            </a:r>
            <a:endParaRPr lang="en-US" sz="1400" dirty="0"/>
          </a:p>
          <a:p>
            <a:pPr marL="342900" indent="-342900">
              <a:spcAft>
                <a:spcPts val="600"/>
              </a:spcAft>
              <a:buSzPct val="100000"/>
              <a:buChar char="•"/>
            </a:pPr>
            <a:r>
              <a:rPr lang="en-US" sz="1400" dirty="0">
                <a:solidFill>
                  <a:schemeClr val="tx1"/>
                </a:solidFill>
              </a:rPr>
              <a:t>Rural and highway riders</a:t>
            </a:r>
            <a:endParaRPr lang="en-US" sz="1400" dirty="0"/>
          </a:p>
        </p:txBody>
      </p:sp>
      <p:sp>
        <p:nvSpPr>
          <p:cNvPr id="9" name="Shape 6"/>
          <p:cNvSpPr/>
          <p:nvPr/>
        </p:nvSpPr>
        <p:spPr>
          <a:xfrm>
            <a:off x="530352" y="3429000"/>
            <a:ext cx="2377440" cy="1097280"/>
          </a:xfrm>
          <a:prstGeom prst="roundRect">
            <a:avLst>
              <a:gd name="adj" fmla="val 6667"/>
            </a:avLst>
          </a:prstGeom>
          <a:solidFill>
            <a:schemeClr val="tx2"/>
          </a:solidFill>
          <a:ln w="12700">
            <a:solidFill>
              <a:schemeClr val="tx2"/>
            </a:solidFill>
            <a:prstDash val="solid"/>
          </a:ln>
        </p:spPr>
      </p:sp>
      <p:sp>
        <p:nvSpPr>
          <p:cNvPr id="10" name="Text 7"/>
          <p:cNvSpPr txBox="1"/>
          <p:nvPr/>
        </p:nvSpPr>
        <p:spPr>
          <a:xfrm>
            <a:off x="621792" y="3429000"/>
            <a:ext cx="914400" cy="1097280"/>
          </a:xfrm>
          <a:prstGeom prst="rect">
            <a:avLst/>
          </a:prstGeom>
          <a:noFill/>
          <a:ln/>
        </p:spPr>
        <p:txBody>
          <a:bodyPr wrap="square" lIns="0" tIns="0" rIns="0" bIns="0" rtlCol="0" anchor="ctr"/>
          <a:lstStyle/>
          <a:p>
            <a:pPr indent="0" marL="0">
              <a:buNone/>
            </a:pPr>
            <a:r>
              <a:rPr lang="en-US" sz="3000" b="1" dirty="0">
                <a:solidFill>
                  <a:schemeClr val="bg1"/>
                </a:solidFill>
              </a:rPr>
              <a:t>45%</a:t>
            </a:r>
            <a:endParaRPr lang="en-US" sz="3000" dirty="0"/>
          </a:p>
        </p:txBody>
      </p:sp>
      <p:sp>
        <p:nvSpPr>
          <p:cNvPr id="11" name="Text 8"/>
          <p:cNvSpPr txBox="1"/>
          <p:nvPr/>
        </p:nvSpPr>
        <p:spPr>
          <a:xfrm>
            <a:off x="1554480" y="3429000"/>
            <a:ext cx="1280160" cy="1097280"/>
          </a:xfrm>
          <a:prstGeom prst="rect">
            <a:avLst/>
          </a:prstGeom>
          <a:noFill/>
          <a:ln/>
        </p:spPr>
        <p:txBody>
          <a:bodyPr wrap="square" lIns="0" tIns="0" rIns="0" bIns="0" rtlCol="0" anchor="ctr"/>
          <a:lstStyle/>
          <a:p>
            <a:pPr indent="0" marL="0">
              <a:buNone/>
            </a:pPr>
            <a:r>
              <a:rPr lang="en-US" sz="1200" dirty="0">
                <a:solidFill>
                  <a:schemeClr val="bg1"/>
                </a:solidFill>
              </a:rPr>
              <a:t>of road deaths are two-wheeler riders (2023) [1][2]</a:t>
            </a:r>
            <a:endParaRPr lang="en-US" sz="1200" dirty="0"/>
          </a:p>
        </p:txBody>
      </p:sp>
      <p:sp>
        <p:nvSpPr>
          <p:cNvPr id="12" name="Shape 9"/>
          <p:cNvSpPr/>
          <p:nvPr/>
        </p:nvSpPr>
        <p:spPr>
          <a:xfrm>
            <a:off x="3227832" y="1005840"/>
            <a:ext cx="2697480" cy="3703320"/>
          </a:xfrm>
          <a:prstGeom prst="roundRect">
            <a:avLst>
              <a:gd name="adj" fmla="val 2712"/>
            </a:avLst>
          </a:prstGeom>
          <a:solidFill>
            <a:schemeClr val="bg2"/>
          </a:solidFill>
          <a:ln w="12700">
            <a:solidFill>
              <a:schemeClr val="bg2"/>
            </a:solidFill>
            <a:prstDash val="solid"/>
          </a:ln>
        </p:spPr>
      </p:sp>
      <p:sp>
        <p:nvSpPr>
          <p:cNvPr id="13" name="Benefits (social, economic) circle"/>
          <p:cNvSpPr/>
          <p:nvPr/>
        </p:nvSpPr>
        <p:spPr>
          <a:xfrm>
            <a:off x="3392424" y="1143000"/>
            <a:ext cx="548640" cy="548640"/>
          </a:xfrm>
          <a:prstGeom prst="ellipse">
            <a:avLst/>
          </a:prstGeom>
          <a:solidFill>
            <a:schemeClr val="accent1"/>
          </a:solidFill>
          <a:ln w="12700">
            <a:solidFill>
              <a:schemeClr val="accent1"/>
            </a:solidFill>
            <a:prstDash val="solid"/>
          </a:ln>
        </p:spPr>
      </p:sp>
      <p:pic>
        <p:nvPicPr>
          <p:cNvPr id="14" name="Benefits (social, economic) icon" descr="Benefits (social, economic)">    </p:cNvPr>
          <p:cNvPicPr>
            <a:picLocks noChangeAspect="1"/>
          </p:cNvPicPr>
          <p:nvPr/>
        </p:nvPicPr>
        <p:blipFill>
          <a:blip r:embed="rId2"/>
          <a:stretch>
            <a:fillRect/>
          </a:stretch>
        </p:blipFill>
        <p:spPr>
          <a:xfrm>
            <a:off x="3524098" y="1274674"/>
            <a:ext cx="285293" cy="285293"/>
          </a:xfrm>
          <a:prstGeom prst="rect">
            <a:avLst/>
          </a:prstGeom>
        </p:spPr>
      </p:pic>
      <p:sp>
        <p:nvSpPr>
          <p:cNvPr id="15" name="Text 11"/>
          <p:cNvSpPr txBox="1"/>
          <p:nvPr/>
        </p:nvSpPr>
        <p:spPr>
          <a:xfrm>
            <a:off x="4050792" y="114300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Benefits (social, economic)</a:t>
            </a:r>
            <a:endParaRPr lang="en-US" sz="1500" dirty="0"/>
          </a:p>
        </p:txBody>
      </p:sp>
      <p:sp>
        <p:nvSpPr>
          <p:cNvPr id="16" name="Text 12"/>
          <p:cNvSpPr txBox="1"/>
          <p:nvPr/>
        </p:nvSpPr>
        <p:spPr>
          <a:xfrm>
            <a:off x="3392424" y="1874520"/>
            <a:ext cx="2377440" cy="256032"/>
          </a:xfrm>
          <a:prstGeom prst="rect">
            <a:avLst/>
          </a:prstGeom>
          <a:noFill/>
          <a:ln/>
        </p:spPr>
        <p:txBody>
          <a:bodyPr wrap="square" lIns="0" tIns="0" rIns="0" bIns="0" rtlCol="0" anchor="ctr"/>
          <a:lstStyle/>
          <a:p>
            <a:pPr indent="0" marL="0">
              <a:buNone/>
            </a:pPr>
            <a:r>
              <a:rPr lang="en-US" sz="1300" b="1" dirty="0">
                <a:solidFill>
                  <a:schemeClr val="accent2"/>
                </a:solidFill>
              </a:rPr>
              <a:t>Social</a:t>
            </a:r>
            <a:endParaRPr lang="en-US" sz="1300" dirty="0"/>
          </a:p>
        </p:txBody>
      </p:sp>
      <p:sp>
        <p:nvSpPr>
          <p:cNvPr id="17" name="Text 13"/>
          <p:cNvSpPr txBox="1"/>
          <p:nvPr/>
        </p:nvSpPr>
        <p:spPr>
          <a:xfrm>
            <a:off x="3392424" y="2148840"/>
            <a:ext cx="237744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Visible at dusk and night</a:t>
            </a:r>
            <a:endParaRPr lang="en-US" sz="1300" dirty="0"/>
          </a:p>
          <a:p>
            <a:pPr marL="342900" indent="-342900">
              <a:spcAft>
                <a:spcPts val="400"/>
              </a:spcAft>
              <a:buSzPct val="100000"/>
              <a:buChar char="•"/>
            </a:pPr>
            <a:r>
              <a:rPr lang="en-US" sz="1300" dirty="0">
                <a:solidFill>
                  <a:schemeClr val="tx1"/>
                </a:solidFill>
              </a:rPr>
              <a:t>Help alerted automatically</a:t>
            </a:r>
            <a:endParaRPr lang="en-US" sz="1300" dirty="0"/>
          </a:p>
          <a:p>
            <a:pPr marL="342900" indent="-342900">
              <a:spcAft>
                <a:spcPts val="400"/>
              </a:spcAft>
              <a:buSzPct val="100000"/>
              <a:buChar char="•"/>
            </a:pPr>
            <a:r>
              <a:rPr lang="en-US" sz="1300" dirty="0">
                <a:solidFill>
                  <a:schemeClr val="tx1"/>
                </a:solidFill>
              </a:rPr>
              <a:t>Ride data for safer habits</a:t>
            </a:r>
            <a:endParaRPr lang="en-US" sz="1300" dirty="0"/>
          </a:p>
        </p:txBody>
      </p:sp>
      <p:sp>
        <p:nvSpPr>
          <p:cNvPr id="18" name="Text 14"/>
          <p:cNvSpPr txBox="1"/>
          <p:nvPr/>
        </p:nvSpPr>
        <p:spPr>
          <a:xfrm>
            <a:off x="3392424" y="3474720"/>
            <a:ext cx="2377440" cy="256032"/>
          </a:xfrm>
          <a:prstGeom prst="rect">
            <a:avLst/>
          </a:prstGeom>
          <a:noFill/>
          <a:ln/>
        </p:spPr>
        <p:txBody>
          <a:bodyPr wrap="square" lIns="0" tIns="0" rIns="0" bIns="0" rtlCol="0" anchor="ctr"/>
          <a:lstStyle/>
          <a:p>
            <a:pPr indent="0" marL="0">
              <a:buNone/>
            </a:pPr>
            <a:r>
              <a:rPr lang="en-US" sz="1300" b="1" dirty="0">
                <a:solidFill>
                  <a:schemeClr val="accent2"/>
                </a:solidFill>
              </a:rPr>
              <a:t>Economic</a:t>
            </a:r>
            <a:endParaRPr lang="en-US" sz="1300" dirty="0"/>
          </a:p>
        </p:txBody>
      </p:sp>
      <p:sp>
        <p:nvSpPr>
          <p:cNvPr id="19" name="Text 15"/>
          <p:cNvSpPr txBox="1"/>
          <p:nvPr/>
        </p:nvSpPr>
        <p:spPr>
          <a:xfrm>
            <a:off x="3392424" y="3749040"/>
            <a:ext cx="2377440" cy="8229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Indicative ₹1,500–2,000</a:t>
            </a:r>
            <a:endParaRPr lang="en-US" sz="1300" dirty="0"/>
          </a:p>
          <a:p>
            <a:pPr marL="342900" indent="-342900">
              <a:spcAft>
                <a:spcPts val="400"/>
              </a:spcAft>
              <a:buSzPct val="100000"/>
              <a:buChar char="•"/>
            </a:pPr>
            <a:r>
              <a:rPr lang="en-US" sz="1300" dirty="0">
                <a:solidFill>
                  <a:schemeClr val="tx1"/>
                </a:solidFill>
              </a:rPr>
              <a:t>Reuses the rider’s phone</a:t>
            </a:r>
            <a:endParaRPr lang="en-US" sz="1300" dirty="0"/>
          </a:p>
        </p:txBody>
      </p:sp>
      <p:sp>
        <p:nvSpPr>
          <p:cNvPr id="20" name="Shape 16"/>
          <p:cNvSpPr/>
          <p:nvPr/>
        </p:nvSpPr>
        <p:spPr>
          <a:xfrm>
            <a:off x="6089904" y="1005840"/>
            <a:ext cx="2697480" cy="3703320"/>
          </a:xfrm>
          <a:prstGeom prst="roundRect">
            <a:avLst>
              <a:gd name="adj" fmla="val 2712"/>
            </a:avLst>
          </a:prstGeom>
          <a:solidFill>
            <a:schemeClr val="bg2"/>
          </a:solidFill>
          <a:ln w="12700">
            <a:solidFill>
              <a:schemeClr val="bg2"/>
            </a:solidFill>
            <a:prstDash val="solid"/>
          </a:ln>
        </p:spPr>
      </p:sp>
      <p:sp>
        <p:nvSpPr>
          <p:cNvPr id="21" name="Stakeholders circle"/>
          <p:cNvSpPr/>
          <p:nvPr/>
        </p:nvSpPr>
        <p:spPr>
          <a:xfrm>
            <a:off x="6254496" y="1143000"/>
            <a:ext cx="548640" cy="548640"/>
          </a:xfrm>
          <a:prstGeom prst="ellipse">
            <a:avLst/>
          </a:prstGeom>
          <a:solidFill>
            <a:schemeClr val="accent1"/>
          </a:solidFill>
          <a:ln w="12700">
            <a:solidFill>
              <a:schemeClr val="accent1"/>
            </a:solidFill>
            <a:prstDash val="solid"/>
          </a:ln>
        </p:spPr>
      </p:sp>
      <p:pic>
        <p:nvPicPr>
          <p:cNvPr id="22" name="Stakeholders icon" descr="Stakeholders">    </p:cNvPr>
          <p:cNvPicPr>
            <a:picLocks noChangeAspect="1"/>
          </p:cNvPicPr>
          <p:nvPr/>
        </p:nvPicPr>
        <p:blipFill>
          <a:blip r:embed="rId3"/>
          <a:stretch>
            <a:fillRect/>
          </a:stretch>
        </p:blipFill>
        <p:spPr>
          <a:xfrm>
            <a:off x="6386170" y="1274674"/>
            <a:ext cx="285293" cy="285293"/>
          </a:xfrm>
          <a:prstGeom prst="rect">
            <a:avLst/>
          </a:prstGeom>
        </p:spPr>
      </p:pic>
      <p:sp>
        <p:nvSpPr>
          <p:cNvPr id="23" name="Text 18"/>
          <p:cNvSpPr txBox="1"/>
          <p:nvPr/>
        </p:nvSpPr>
        <p:spPr>
          <a:xfrm>
            <a:off x="6912864" y="114300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Stakeholders</a:t>
            </a:r>
            <a:endParaRPr lang="en-US" sz="1500" dirty="0"/>
          </a:p>
        </p:txBody>
      </p:sp>
      <p:sp>
        <p:nvSpPr>
          <p:cNvPr id="24" name="Text 19"/>
          <p:cNvSpPr txBox="1"/>
          <p:nvPr/>
        </p:nvSpPr>
        <p:spPr>
          <a:xfrm>
            <a:off x="6254496" y="1874520"/>
            <a:ext cx="237744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Riders</a:t>
            </a:r>
            <a:endParaRPr lang="en-US" sz="1400" dirty="0"/>
          </a:p>
          <a:p>
            <a:pPr marL="342900" indent="-342900">
              <a:spcAft>
                <a:spcPts val="600"/>
              </a:spcAft>
              <a:buSzPct val="100000"/>
              <a:buChar char="•"/>
            </a:pPr>
            <a:r>
              <a:rPr lang="en-US" sz="1400" dirty="0">
                <a:solidFill>
                  <a:schemeClr val="tx1"/>
                </a:solidFill>
              </a:rPr>
              <a:t>Families / emergency contacts</a:t>
            </a:r>
            <a:endParaRPr lang="en-US" sz="1400" dirty="0"/>
          </a:p>
          <a:p>
            <a:pPr marL="342900" indent="-342900">
              <a:spcAft>
                <a:spcPts val="600"/>
              </a:spcAft>
              <a:buSzPct val="100000"/>
              <a:buChar char="•"/>
            </a:pPr>
            <a:r>
              <a:rPr lang="en-US" sz="1400" dirty="0">
                <a:solidFill>
                  <a:schemeClr val="tx1"/>
                </a:solidFill>
              </a:rPr>
              <a:t>Delivery fleets and employers</a:t>
            </a:r>
            <a:endParaRPr lang="en-US" sz="1400" dirty="0"/>
          </a:p>
          <a:p>
            <a:pPr marL="342900" indent="-342900">
              <a:spcAft>
                <a:spcPts val="600"/>
              </a:spcAft>
              <a:buSzPct val="100000"/>
              <a:buChar char="•"/>
            </a:pPr>
            <a:r>
              <a:rPr lang="en-US" sz="1400" dirty="0">
                <a:solidFill>
                  <a:schemeClr val="tx1"/>
                </a:solidFill>
              </a:rPr>
              <a:t>Road-safety bodies, traffic police</a:t>
            </a:r>
            <a:endParaRPr lang="en-US" sz="1400" dirty="0"/>
          </a:p>
          <a:p>
            <a:pPr marL="342900" indent="-342900">
              <a:spcAft>
                <a:spcPts val="600"/>
              </a:spcAft>
              <a:buSzPct val="100000"/>
              <a:buChar char="•"/>
            </a:pPr>
            <a:r>
              <a:rPr lang="en-US" sz="1400" dirty="0">
                <a:solidFill>
                  <a:schemeClr val="tx1"/>
                </a:solidFill>
              </a:rPr>
              <a:t>Helmet makers</a:t>
            </a:r>
            <a:endParaRPr lang="en-US" sz="14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Feasibility and Risk Analysis</a:t>
            </a:r>
            <a:endParaRPr lang="en-US" sz="2800" dirty="0"/>
          </a:p>
        </p:txBody>
      </p:sp>
      <p:sp>
        <p:nvSpPr>
          <p:cNvPr id="4" name="Shape 2"/>
          <p:cNvSpPr/>
          <p:nvPr/>
        </p:nvSpPr>
        <p:spPr>
          <a:xfrm>
            <a:off x="365760" y="1005840"/>
            <a:ext cx="2743200" cy="3703320"/>
          </a:xfrm>
          <a:prstGeom prst="roundRect">
            <a:avLst>
              <a:gd name="adj" fmla="val 2667"/>
            </a:avLst>
          </a:prstGeom>
          <a:solidFill>
            <a:schemeClr val="bg2"/>
          </a:solidFill>
          <a:ln w="12700">
            <a:solidFill>
              <a:schemeClr val="bg2"/>
            </a:solidFill>
            <a:prstDash val="solid"/>
          </a:ln>
        </p:spPr>
      </p:sp>
      <p:sp>
        <p:nvSpPr>
          <p:cNvPr id="5" name="Text 3"/>
          <p:cNvSpPr txBox="1"/>
          <p:nvPr/>
        </p:nvSpPr>
        <p:spPr>
          <a:xfrm>
            <a:off x="530352" y="1097280"/>
            <a:ext cx="2377440" cy="256032"/>
          </a:xfrm>
          <a:prstGeom prst="rect">
            <a:avLst/>
          </a:prstGeom>
          <a:noFill/>
          <a:ln/>
        </p:spPr>
        <p:txBody>
          <a:bodyPr wrap="square" lIns="0" tIns="0" rIns="0" bIns="0" rtlCol="0" anchor="ctr"/>
          <a:lstStyle/>
          <a:p>
            <a:pPr indent="0" marL="0">
              <a:buNone/>
            </a:pPr>
            <a:r>
              <a:rPr lang="en-US" sz="1300" b="1" dirty="0">
                <a:solidFill>
                  <a:schemeClr val="accent2"/>
                </a:solidFill>
              </a:rPr>
              <a:t>FEASIBILITY</a:t>
            </a:r>
            <a:endParaRPr lang="en-US" sz="1300" dirty="0"/>
          </a:p>
        </p:txBody>
      </p:sp>
      <p:pic>
        <p:nvPicPr>
          <p:cNvPr id="6" name="Image 0" descr="check">    </p:cNvPr>
          <p:cNvPicPr>
            <a:picLocks noChangeAspect="1"/>
          </p:cNvPicPr>
          <p:nvPr/>
        </p:nvPicPr>
        <p:blipFill>
          <a:blip r:embed="rId1"/>
          <a:stretch>
            <a:fillRect/>
          </a:stretch>
        </p:blipFill>
        <p:spPr>
          <a:xfrm>
            <a:off x="530352" y="1508760"/>
            <a:ext cx="274320" cy="274320"/>
          </a:xfrm>
          <a:prstGeom prst="rect">
            <a:avLst/>
          </a:prstGeom>
        </p:spPr>
      </p:pic>
      <p:sp>
        <p:nvSpPr>
          <p:cNvPr id="7" name="Text 4"/>
          <p:cNvSpPr txBox="1"/>
          <p:nvPr/>
        </p:nvSpPr>
        <p:spPr>
          <a:xfrm>
            <a:off x="914400" y="1463040"/>
            <a:ext cx="2103120" cy="640080"/>
          </a:xfrm>
          <a:prstGeom prst="rect">
            <a:avLst/>
          </a:prstGeom>
          <a:noFill/>
          <a:ln/>
        </p:spPr>
        <p:txBody>
          <a:bodyPr wrap="square" lIns="0" tIns="0" rIns="0" bIns="0" rtlCol="0" anchor="t"/>
          <a:lstStyle/>
          <a:p>
            <a:pPr indent="0" marL="0">
              <a:buNone/>
            </a:pPr>
            <a:r>
              <a:rPr lang="en-US" sz="1300" dirty="0">
                <a:solidFill>
                  <a:schemeClr val="tx1"/>
                </a:solidFill>
              </a:rPr>
              <a:t>Off-the-shelf, low-cost parts</a:t>
            </a:r>
            <a:endParaRPr lang="en-US" sz="1300" dirty="0"/>
          </a:p>
        </p:txBody>
      </p:sp>
      <p:pic>
        <p:nvPicPr>
          <p:cNvPr id="8" name="Image 1" descr="check">    </p:cNvPr>
          <p:cNvPicPr>
            <a:picLocks noChangeAspect="1"/>
          </p:cNvPicPr>
          <p:nvPr/>
        </p:nvPicPr>
        <p:blipFill>
          <a:blip r:embed="rId2"/>
          <a:stretch>
            <a:fillRect/>
          </a:stretch>
        </p:blipFill>
        <p:spPr>
          <a:xfrm>
            <a:off x="530352" y="2221992"/>
            <a:ext cx="274320" cy="274320"/>
          </a:xfrm>
          <a:prstGeom prst="rect">
            <a:avLst/>
          </a:prstGeom>
        </p:spPr>
      </p:pic>
      <p:sp>
        <p:nvSpPr>
          <p:cNvPr id="9" name="Text 5"/>
          <p:cNvSpPr txBox="1"/>
          <p:nvPr/>
        </p:nvSpPr>
        <p:spPr>
          <a:xfrm>
            <a:off x="914400" y="2176272"/>
            <a:ext cx="2103120" cy="640080"/>
          </a:xfrm>
          <a:prstGeom prst="rect">
            <a:avLst/>
          </a:prstGeom>
          <a:noFill/>
          <a:ln/>
        </p:spPr>
        <p:txBody>
          <a:bodyPr wrap="square" lIns="0" tIns="0" rIns="0" bIns="0" rtlCol="0" anchor="t"/>
          <a:lstStyle/>
          <a:p>
            <a:pPr indent="0" marL="0">
              <a:buNone/>
            </a:pPr>
            <a:r>
              <a:rPr lang="en-US" sz="1300" dirty="0">
                <a:solidFill>
                  <a:schemeClr val="tx1"/>
                </a:solidFill>
              </a:rPr>
              <a:t>Detector logic tested on a PC: 8 of 8 scenarios pass</a:t>
            </a:r>
            <a:endParaRPr lang="en-US" sz="1300" dirty="0"/>
          </a:p>
        </p:txBody>
      </p:sp>
      <p:pic>
        <p:nvPicPr>
          <p:cNvPr id="10" name="Image 2" descr="check">    </p:cNvPr>
          <p:cNvPicPr>
            <a:picLocks noChangeAspect="1"/>
          </p:cNvPicPr>
          <p:nvPr/>
        </p:nvPicPr>
        <p:blipFill>
          <a:blip r:embed="rId3"/>
          <a:stretch>
            <a:fillRect/>
          </a:stretch>
        </p:blipFill>
        <p:spPr>
          <a:xfrm>
            <a:off x="530352" y="2935224"/>
            <a:ext cx="274320" cy="274320"/>
          </a:xfrm>
          <a:prstGeom prst="rect">
            <a:avLst/>
          </a:prstGeom>
        </p:spPr>
      </p:pic>
      <p:sp>
        <p:nvSpPr>
          <p:cNvPr id="11" name="Text 6"/>
          <p:cNvSpPr txBox="1"/>
          <p:nvPr/>
        </p:nvSpPr>
        <p:spPr>
          <a:xfrm>
            <a:off x="914400" y="2889504"/>
            <a:ext cx="2103120" cy="640080"/>
          </a:xfrm>
          <a:prstGeom prst="rect">
            <a:avLst/>
          </a:prstGeom>
          <a:noFill/>
          <a:ln/>
        </p:spPr>
        <p:txBody>
          <a:bodyPr wrap="square" lIns="0" tIns="0" rIns="0" bIns="0" rtlCol="0" anchor="t"/>
          <a:lstStyle/>
          <a:p>
            <a:pPr indent="0" marL="0">
              <a:buNone/>
            </a:pPr>
            <a:r>
              <a:rPr lang="en-US" sz="1300" dirty="0">
                <a:solidFill>
                  <a:schemeClr val="tx1"/>
                </a:solidFill>
              </a:rPr>
              <a:t>Open-source stack, MIT licence</a:t>
            </a:r>
            <a:endParaRPr lang="en-US" sz="1300" dirty="0"/>
          </a:p>
        </p:txBody>
      </p:sp>
      <p:pic>
        <p:nvPicPr>
          <p:cNvPr id="12" name="Image 3" descr="check">    </p:cNvPr>
          <p:cNvPicPr>
            <a:picLocks noChangeAspect="1"/>
          </p:cNvPicPr>
          <p:nvPr/>
        </p:nvPicPr>
        <p:blipFill>
          <a:blip r:embed="rId4"/>
          <a:stretch>
            <a:fillRect/>
          </a:stretch>
        </p:blipFill>
        <p:spPr>
          <a:xfrm>
            <a:off x="530352" y="3648456"/>
            <a:ext cx="274320" cy="274320"/>
          </a:xfrm>
          <a:prstGeom prst="rect">
            <a:avLst/>
          </a:prstGeom>
        </p:spPr>
      </p:pic>
      <p:sp>
        <p:nvSpPr>
          <p:cNvPr id="13" name="Text 7"/>
          <p:cNvSpPr txBox="1"/>
          <p:nvPr/>
        </p:nvSpPr>
        <p:spPr>
          <a:xfrm>
            <a:off x="914400" y="3602736"/>
            <a:ext cx="2103120" cy="640080"/>
          </a:xfrm>
          <a:prstGeom prst="rect">
            <a:avLst/>
          </a:prstGeom>
          <a:noFill/>
          <a:ln/>
        </p:spPr>
        <p:txBody>
          <a:bodyPr wrap="square" lIns="0" tIns="0" rIns="0" bIns="0" rtlCol="0" anchor="t"/>
          <a:lstStyle/>
          <a:p>
            <a:pPr indent="0" marL="0">
              <a:buNone/>
            </a:pPr>
            <a:r>
              <a:rPr lang="en-US" sz="1300" dirty="0">
                <a:solidFill>
                  <a:schemeClr val="tx1"/>
                </a:solidFill>
              </a:rPr>
              <a:t>Works with any Android 8.0+ phone</a:t>
            </a:r>
            <a:endParaRPr lang="en-US" sz="1300" dirty="0"/>
          </a:p>
        </p:txBody>
      </p:sp>
      <p:sp>
        <p:nvSpPr>
          <p:cNvPr id="14" name="Text 8"/>
          <p:cNvSpPr txBox="1"/>
          <p:nvPr/>
        </p:nvSpPr>
        <p:spPr>
          <a:xfrm>
            <a:off x="530352" y="4315968"/>
            <a:ext cx="2468880" cy="274320"/>
          </a:xfrm>
          <a:prstGeom prst="rect">
            <a:avLst/>
          </a:prstGeom>
          <a:noFill/>
          <a:ln/>
        </p:spPr>
        <p:txBody>
          <a:bodyPr wrap="square" lIns="0" tIns="0" rIns="0" bIns="0" rtlCol="0" anchor="ctr"/>
          <a:lstStyle/>
          <a:p>
            <a:pPr indent="0" marL="0">
              <a:buNone/>
            </a:pPr>
            <a:r>
              <a:rPr lang="en-US" sz="1200" i="1" dirty="0">
                <a:solidFill>
                  <a:schemeClr val="accent2"/>
                </a:solidFill>
              </a:rPr>
              <a:t>Status: [prototype stage – edit]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337560" y="1005840"/>
          <a:ext cx="5440680" cy="914400"/>
        </p:xfrm>
        <a:graphic>
          <a:graphicData uri="http://schemas.openxmlformats.org/drawingml/2006/table">
            <a:tbl>
              <a:tblPr/>
              <a:tblGrid>
                <a:gridCol w="2331720"/>
                <a:gridCol w="3108960"/>
              </a:tblGrid>
              <a:tr h="384048">
                <a:tc>
                  <a:txBody>
                    <a:bodyPr/>
                    <a:lstStyle/>
                    <a:p>
                      <a:pPr indent="0" marL="0">
                        <a:buNone/>
                      </a:pPr>
                      <a:r>
                        <a:rPr lang="en-US" sz="1300" b="1" dirty="0">
                          <a:solidFill>
                            <a:srgbClr val="FFFFFF"/>
                          </a:solidFill>
                        </a:rPr>
                        <a:t>Potential challenge / risk</a:t>
                      </a:r>
                      <a:endParaRPr lang="en-US" sz="13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1F497D"/>
                    </a:solidFill>
                  </a:tcPr>
                </a:tc>
                <a:tc>
                  <a:txBody>
                    <a:bodyPr/>
                    <a:lstStyle/>
                    <a:p>
                      <a:pPr indent="0" marL="0">
                        <a:buNone/>
                      </a:pPr>
                      <a:r>
                        <a:rPr lang="en-US" sz="1300" b="1" dirty="0">
                          <a:solidFill>
                            <a:srgbClr val="FFFFFF"/>
                          </a:solidFill>
                        </a:rPr>
                        <a:t>Strategy to overcome it</a:t>
                      </a:r>
                      <a:endParaRPr lang="en-US" sz="13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1F497D"/>
                    </a:solidFill>
                  </a:tcPr>
                </a:tc>
              </a:tr>
              <a:tr h="658368">
                <a:tc>
                  <a:txBody>
                    <a:bodyPr/>
                    <a:lstStyle/>
                    <a:p>
                      <a:pPr indent="0" marL="0">
                        <a:buNone/>
                      </a:pPr>
                      <a:r>
                        <a:rPr lang="en-US" sz="1200" b="1" dirty="0">
                          <a:solidFill>
                            <a:srgbClr val="1F497D"/>
                          </a:solidFill>
                        </a:rPr>
                        <a:t>False alarms (potholes, drops)</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rPr>
                        <a:t>4 g spike + stillness check; 10 s cancel window</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497D"/>
                          </a:solidFill>
                        </a:rPr>
                        <a:t>BLE link drops after a crash</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rPr>
                        <a:t>Phone timer still sends the SMS</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497D"/>
                          </a:solidFill>
                        </a:rPr>
                        <a:t>No phone, signal or SMS credit</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rPr>
                        <a:t>Buzzer + amber lights still warn; limit stated</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497D"/>
                          </a:solidFill>
                        </a:rPr>
                        <a:t>Thresholds need field tuning</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rPr>
                        <a:t>All values in config.h; tune with replay traces</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497D"/>
                          </a:solidFill>
                        </a:rPr>
                        <a:t>Battery and LED current</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rPr>
                        <a:t>Brightness capped; protected TP4056 + Li-ion</a:t>
                      </a:r>
                      <a:endParaRPr lang="en-US" sz="1200" dirty="0"/>
                    </a:p>
                  </a:txBody>
                  <a:tcPr marL="91440" marR="91440" marT="36576" marB="36576" anchor="ctr">
                    <a:lnL w="9525" cap="flat" cmpd="sng" algn="ctr">
                      <a:solidFill>
                        <a:srgbClr val="BFD3EA"/>
                      </a:solidFill>
                      <a:prstDash val="solid"/>
                      <a:round/>
                      <a:headEnd type="none" w="med" len="med"/>
                      <a:tailEnd type="none" w="med" len="med"/>
                    </a:lnL>
                    <a:lnR w="9525" cap="flat" cmpd="sng" algn="ctr">
                      <a:solidFill>
                        <a:srgbClr val="BFD3EA"/>
                      </a:solidFill>
                      <a:prstDash val="solid"/>
                      <a:round/>
                      <a:headEnd type="none" w="med" len="med"/>
                      <a:tailEnd type="none" w="med" len="med"/>
                    </a:lnR>
                    <a:lnT w="9525" cap="flat" cmpd="sng" algn="ctr">
                      <a:solidFill>
                        <a:srgbClr val="BFD3EA"/>
                      </a:solidFill>
                      <a:prstDash val="solid"/>
                      <a:round/>
                      <a:headEnd type="none" w="med" len="med"/>
                      <a:tailEnd type="none" w="med" len="med"/>
                    </a:lnT>
                    <a:lnB w="9525" cap="flat" cmpd="sng" algn="ctr">
                      <a:solidFill>
                        <a:srgbClr val="BFD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Team</a:t>
            </a:r>
            <a:endParaRPr lang="en-US" sz="2800" dirty="0"/>
          </a:p>
        </p:txBody>
      </p:sp>
      <p:sp>
        <p:nvSpPr>
          <p:cNvPr id="4" name="Text 2"/>
          <p:cNvSpPr txBox="1"/>
          <p:nvPr/>
        </p:nvSpPr>
        <p:spPr>
          <a:xfrm>
            <a:off x="365760" y="960120"/>
            <a:ext cx="4572000" cy="256032"/>
          </a:xfrm>
          <a:prstGeom prst="rect">
            <a:avLst/>
          </a:prstGeom>
          <a:noFill/>
          <a:ln/>
        </p:spPr>
        <p:txBody>
          <a:bodyPr wrap="square" lIns="0" tIns="0" rIns="0" bIns="0" rtlCol="0" anchor="ctr"/>
          <a:lstStyle/>
          <a:p>
            <a:pPr indent="0" marL="0">
              <a:buNone/>
            </a:pPr>
            <a:r>
              <a:rPr lang="en-US" sz="1200" b="1" spc="100" kern="0" dirty="0">
                <a:solidFill>
                  <a:schemeClr val="accent2"/>
                </a:solidFill>
              </a:rPr>
              <a:t>TEAM COMPOSITION AND ROLES</a:t>
            </a:r>
            <a:endParaRPr lang="en-US" sz="1200" dirty="0"/>
          </a:p>
        </p:txBody>
      </p:sp>
      <p:sp>
        <p:nvSpPr>
          <p:cNvPr id="5" name="Shape 3"/>
          <p:cNvSpPr/>
          <p:nvPr/>
        </p:nvSpPr>
        <p:spPr>
          <a:xfrm>
            <a:off x="365760" y="1252728"/>
            <a:ext cx="1984248" cy="1691640"/>
          </a:xfrm>
          <a:prstGeom prst="roundRect">
            <a:avLst>
              <a:gd name="adj" fmla="val 4324"/>
            </a:avLst>
          </a:prstGeom>
          <a:solidFill>
            <a:schemeClr val="bg2"/>
          </a:solidFill>
          <a:ln w="12700">
            <a:solidFill>
              <a:schemeClr val="bg2"/>
            </a:solidFill>
            <a:prstDash val="solid"/>
          </a:ln>
        </p:spPr>
      </p:sp>
      <p:sp>
        <p:nvSpPr>
          <p:cNvPr id="6" name="Embedded firmware circle"/>
          <p:cNvSpPr/>
          <p:nvPr/>
        </p:nvSpPr>
        <p:spPr>
          <a:xfrm>
            <a:off x="502920" y="1371600"/>
            <a:ext cx="457200" cy="457200"/>
          </a:xfrm>
          <a:prstGeom prst="ellipse">
            <a:avLst/>
          </a:prstGeom>
          <a:solidFill>
            <a:schemeClr val="accent1"/>
          </a:solidFill>
          <a:ln w="12700">
            <a:solidFill>
              <a:schemeClr val="accent1"/>
            </a:solidFill>
            <a:prstDash val="solid"/>
          </a:ln>
        </p:spPr>
      </p:sp>
      <p:pic>
        <p:nvPicPr>
          <p:cNvPr id="7" name="Embedded firmware icon" descr="Embedded firmware">    </p:cNvPr>
          <p:cNvPicPr>
            <a:picLocks noChangeAspect="1"/>
          </p:cNvPicPr>
          <p:nvPr/>
        </p:nvPicPr>
        <p:blipFill>
          <a:blip r:embed="rId1"/>
          <a:stretch>
            <a:fillRect/>
          </a:stretch>
        </p:blipFill>
        <p:spPr>
          <a:xfrm>
            <a:off x="612648" y="1481328"/>
            <a:ext cx="237744" cy="237744"/>
          </a:xfrm>
          <a:prstGeom prst="rect">
            <a:avLst/>
          </a:prstGeom>
        </p:spPr>
      </p:pic>
      <p:sp>
        <p:nvSpPr>
          <p:cNvPr id="8" name="Text 5"/>
          <p:cNvSpPr txBox="1"/>
          <p:nvPr/>
        </p:nvSpPr>
        <p:spPr>
          <a:xfrm>
            <a:off x="502920" y="1901952"/>
            <a:ext cx="1737360" cy="256032"/>
          </a:xfrm>
          <a:prstGeom prst="rect">
            <a:avLst/>
          </a:prstGeom>
          <a:noFill/>
          <a:ln/>
        </p:spPr>
        <p:txBody>
          <a:bodyPr wrap="square" lIns="0" tIns="0" rIns="0" bIns="0" rtlCol="0" anchor="ctr"/>
          <a:lstStyle/>
          <a:p>
            <a:pPr indent="0" marL="0">
              <a:buNone/>
            </a:pPr>
            <a:r>
              <a:rPr lang="en-US" sz="1200" i="1" dirty="0">
                <a:solidFill>
                  <a:schemeClr val="accent2"/>
                </a:solidFill>
              </a:rPr>
              <a:t>[Member name]</a:t>
            </a:r>
            <a:endParaRPr lang="en-US" sz="1200" dirty="0"/>
          </a:p>
        </p:txBody>
      </p:sp>
      <p:sp>
        <p:nvSpPr>
          <p:cNvPr id="9" name="Text 6"/>
          <p:cNvSpPr txBox="1"/>
          <p:nvPr/>
        </p:nvSpPr>
        <p:spPr>
          <a:xfrm>
            <a:off x="502920" y="2176272"/>
            <a:ext cx="1737360" cy="274320"/>
          </a:xfrm>
          <a:prstGeom prst="rect">
            <a:avLst/>
          </a:prstGeom>
          <a:noFill/>
          <a:ln/>
        </p:spPr>
        <p:txBody>
          <a:bodyPr wrap="square" lIns="0" tIns="0" rIns="0" bIns="0" rtlCol="0" anchor="ctr"/>
          <a:lstStyle/>
          <a:p>
            <a:pPr indent="0" marL="0">
              <a:buNone/>
            </a:pPr>
            <a:r>
              <a:rPr lang="en-US" sz="1400" b="1" dirty="0">
                <a:solidFill>
                  <a:schemeClr val="tx2"/>
                </a:solidFill>
              </a:rPr>
              <a:t>Embedded firmware</a:t>
            </a:r>
            <a:endParaRPr lang="en-US" sz="1400" dirty="0"/>
          </a:p>
        </p:txBody>
      </p:sp>
      <p:sp>
        <p:nvSpPr>
          <p:cNvPr id="10" name="Text 7"/>
          <p:cNvSpPr txBox="1"/>
          <p:nvPr/>
        </p:nvSpPr>
        <p:spPr>
          <a:xfrm>
            <a:off x="502920" y="2468880"/>
            <a:ext cx="1737360" cy="365760"/>
          </a:xfrm>
          <a:prstGeom prst="rect">
            <a:avLst/>
          </a:prstGeom>
          <a:noFill/>
          <a:ln/>
        </p:spPr>
        <p:txBody>
          <a:bodyPr wrap="square" lIns="0" tIns="0" rIns="0" bIns="0" rtlCol="0" anchor="t"/>
          <a:lstStyle/>
          <a:p>
            <a:pPr indent="0" marL="0">
              <a:buNone/>
            </a:pPr>
            <a:r>
              <a:rPr lang="en-US" sz="1200" dirty="0">
                <a:solidFill>
                  <a:schemeClr val="tx1"/>
                </a:solidFill>
              </a:rPr>
              <a:t>ESP32, sensors, LEDs</a:t>
            </a:r>
            <a:endParaRPr lang="en-US" sz="1200" dirty="0"/>
          </a:p>
        </p:txBody>
      </p:sp>
      <p:sp>
        <p:nvSpPr>
          <p:cNvPr id="11" name="Shape 8"/>
          <p:cNvSpPr/>
          <p:nvPr/>
        </p:nvSpPr>
        <p:spPr>
          <a:xfrm>
            <a:off x="2496312" y="1252728"/>
            <a:ext cx="1984248" cy="1691640"/>
          </a:xfrm>
          <a:prstGeom prst="roundRect">
            <a:avLst>
              <a:gd name="adj" fmla="val 4324"/>
            </a:avLst>
          </a:prstGeom>
          <a:solidFill>
            <a:schemeClr val="bg2"/>
          </a:solidFill>
          <a:ln w="12700">
            <a:solidFill>
              <a:schemeClr val="bg2"/>
            </a:solidFill>
            <a:prstDash val="solid"/>
          </a:ln>
        </p:spPr>
      </p:sp>
      <p:sp>
        <p:nvSpPr>
          <p:cNvPr id="12" name="Phone app circle"/>
          <p:cNvSpPr/>
          <p:nvPr/>
        </p:nvSpPr>
        <p:spPr>
          <a:xfrm>
            <a:off x="2633472" y="1371600"/>
            <a:ext cx="457200" cy="457200"/>
          </a:xfrm>
          <a:prstGeom prst="ellipse">
            <a:avLst/>
          </a:prstGeom>
          <a:solidFill>
            <a:schemeClr val="accent1"/>
          </a:solidFill>
          <a:ln w="12700">
            <a:solidFill>
              <a:schemeClr val="accent1"/>
            </a:solidFill>
            <a:prstDash val="solid"/>
          </a:ln>
        </p:spPr>
      </p:sp>
      <p:pic>
        <p:nvPicPr>
          <p:cNvPr id="13" name="Phone app icon" descr="Phone app">    </p:cNvPr>
          <p:cNvPicPr>
            <a:picLocks noChangeAspect="1"/>
          </p:cNvPicPr>
          <p:nvPr/>
        </p:nvPicPr>
        <p:blipFill>
          <a:blip r:embed="rId2"/>
          <a:stretch>
            <a:fillRect/>
          </a:stretch>
        </p:blipFill>
        <p:spPr>
          <a:xfrm>
            <a:off x="2743200" y="1481328"/>
            <a:ext cx="237744" cy="237744"/>
          </a:xfrm>
          <a:prstGeom prst="rect">
            <a:avLst/>
          </a:prstGeom>
        </p:spPr>
      </p:pic>
      <p:sp>
        <p:nvSpPr>
          <p:cNvPr id="14" name="Text 10"/>
          <p:cNvSpPr txBox="1"/>
          <p:nvPr/>
        </p:nvSpPr>
        <p:spPr>
          <a:xfrm>
            <a:off x="2633472" y="1901952"/>
            <a:ext cx="1737360" cy="256032"/>
          </a:xfrm>
          <a:prstGeom prst="rect">
            <a:avLst/>
          </a:prstGeom>
          <a:noFill/>
          <a:ln/>
        </p:spPr>
        <p:txBody>
          <a:bodyPr wrap="square" lIns="0" tIns="0" rIns="0" bIns="0" rtlCol="0" anchor="ctr"/>
          <a:lstStyle/>
          <a:p>
            <a:pPr indent="0" marL="0">
              <a:buNone/>
            </a:pPr>
            <a:r>
              <a:rPr lang="en-US" sz="1200" i="1" dirty="0">
                <a:solidFill>
                  <a:schemeClr val="accent2"/>
                </a:solidFill>
              </a:rPr>
              <a:t>[Member name]</a:t>
            </a:r>
            <a:endParaRPr lang="en-US" sz="1200" dirty="0"/>
          </a:p>
        </p:txBody>
      </p:sp>
      <p:sp>
        <p:nvSpPr>
          <p:cNvPr id="15" name="Text 11"/>
          <p:cNvSpPr txBox="1"/>
          <p:nvPr/>
        </p:nvSpPr>
        <p:spPr>
          <a:xfrm>
            <a:off x="2633472" y="2176272"/>
            <a:ext cx="1737360" cy="274320"/>
          </a:xfrm>
          <a:prstGeom prst="rect">
            <a:avLst/>
          </a:prstGeom>
          <a:noFill/>
          <a:ln/>
        </p:spPr>
        <p:txBody>
          <a:bodyPr wrap="square" lIns="0" tIns="0" rIns="0" bIns="0" rtlCol="0" anchor="ctr"/>
          <a:lstStyle/>
          <a:p>
            <a:pPr indent="0" marL="0">
              <a:buNone/>
            </a:pPr>
            <a:r>
              <a:rPr lang="en-US" sz="1400" b="1" dirty="0">
                <a:solidFill>
                  <a:schemeClr val="tx2"/>
                </a:solidFill>
              </a:rPr>
              <a:t>Phone app</a:t>
            </a:r>
            <a:endParaRPr lang="en-US" sz="1400" dirty="0"/>
          </a:p>
        </p:txBody>
      </p:sp>
      <p:sp>
        <p:nvSpPr>
          <p:cNvPr id="16" name="Text 12"/>
          <p:cNvSpPr txBox="1"/>
          <p:nvPr/>
        </p:nvSpPr>
        <p:spPr>
          <a:xfrm>
            <a:off x="2633472" y="2468880"/>
            <a:ext cx="1737360" cy="365760"/>
          </a:xfrm>
          <a:prstGeom prst="rect">
            <a:avLst/>
          </a:prstGeom>
          <a:noFill/>
          <a:ln/>
        </p:spPr>
        <p:txBody>
          <a:bodyPr wrap="square" lIns="0" tIns="0" rIns="0" bIns="0" rtlCol="0" anchor="t"/>
          <a:lstStyle/>
          <a:p>
            <a:pPr indent="0" marL="0">
              <a:buNone/>
            </a:pPr>
            <a:r>
              <a:rPr lang="en-US" sz="1200" dirty="0">
                <a:solidFill>
                  <a:schemeClr val="tx1"/>
                </a:solidFill>
              </a:rPr>
              <a:t>BLE, GPS, SMS, logging</a:t>
            </a:r>
            <a:endParaRPr lang="en-US" sz="1200" dirty="0"/>
          </a:p>
        </p:txBody>
      </p:sp>
      <p:sp>
        <p:nvSpPr>
          <p:cNvPr id="17" name="Shape 13"/>
          <p:cNvSpPr/>
          <p:nvPr/>
        </p:nvSpPr>
        <p:spPr>
          <a:xfrm>
            <a:off x="4626864" y="1252728"/>
            <a:ext cx="1984248" cy="1691640"/>
          </a:xfrm>
          <a:prstGeom prst="roundRect">
            <a:avLst>
              <a:gd name="adj" fmla="val 4324"/>
            </a:avLst>
          </a:prstGeom>
          <a:solidFill>
            <a:schemeClr val="bg2"/>
          </a:solidFill>
          <a:ln w="12700">
            <a:solidFill>
              <a:schemeClr val="bg2"/>
            </a:solidFill>
            <a:prstDash val="solid"/>
          </a:ln>
        </p:spPr>
      </p:sp>
      <p:sp>
        <p:nvSpPr>
          <p:cNvPr id="18" name="Hardware circle"/>
          <p:cNvSpPr/>
          <p:nvPr/>
        </p:nvSpPr>
        <p:spPr>
          <a:xfrm>
            <a:off x="4764024" y="1371600"/>
            <a:ext cx="457200" cy="457200"/>
          </a:xfrm>
          <a:prstGeom prst="ellipse">
            <a:avLst/>
          </a:prstGeom>
          <a:solidFill>
            <a:schemeClr val="accent1"/>
          </a:solidFill>
          <a:ln w="12700">
            <a:solidFill>
              <a:schemeClr val="accent1"/>
            </a:solidFill>
            <a:prstDash val="solid"/>
          </a:ln>
        </p:spPr>
      </p:sp>
      <p:pic>
        <p:nvPicPr>
          <p:cNvPr id="19" name="Hardware icon" descr="Hardware">    </p:cNvPr>
          <p:cNvPicPr>
            <a:picLocks noChangeAspect="1"/>
          </p:cNvPicPr>
          <p:nvPr/>
        </p:nvPicPr>
        <p:blipFill>
          <a:blip r:embed="rId3"/>
          <a:stretch>
            <a:fillRect/>
          </a:stretch>
        </p:blipFill>
        <p:spPr>
          <a:xfrm>
            <a:off x="4873752" y="1481328"/>
            <a:ext cx="237744" cy="237744"/>
          </a:xfrm>
          <a:prstGeom prst="rect">
            <a:avLst/>
          </a:prstGeom>
        </p:spPr>
      </p:pic>
      <p:sp>
        <p:nvSpPr>
          <p:cNvPr id="20" name="Text 15"/>
          <p:cNvSpPr txBox="1"/>
          <p:nvPr/>
        </p:nvSpPr>
        <p:spPr>
          <a:xfrm>
            <a:off x="4764024" y="1901952"/>
            <a:ext cx="1737360" cy="256032"/>
          </a:xfrm>
          <a:prstGeom prst="rect">
            <a:avLst/>
          </a:prstGeom>
          <a:noFill/>
          <a:ln/>
        </p:spPr>
        <p:txBody>
          <a:bodyPr wrap="square" lIns="0" tIns="0" rIns="0" bIns="0" rtlCol="0" anchor="ctr"/>
          <a:lstStyle/>
          <a:p>
            <a:pPr indent="0" marL="0">
              <a:buNone/>
            </a:pPr>
            <a:r>
              <a:rPr lang="en-US" sz="1200" i="1" dirty="0">
                <a:solidFill>
                  <a:schemeClr val="accent2"/>
                </a:solidFill>
              </a:rPr>
              <a:t>[Member name]</a:t>
            </a:r>
            <a:endParaRPr lang="en-US" sz="1200" dirty="0"/>
          </a:p>
        </p:txBody>
      </p:sp>
      <p:sp>
        <p:nvSpPr>
          <p:cNvPr id="21" name="Text 16"/>
          <p:cNvSpPr txBox="1"/>
          <p:nvPr/>
        </p:nvSpPr>
        <p:spPr>
          <a:xfrm>
            <a:off x="4764024" y="2176272"/>
            <a:ext cx="1737360" cy="274320"/>
          </a:xfrm>
          <a:prstGeom prst="rect">
            <a:avLst/>
          </a:prstGeom>
          <a:noFill/>
          <a:ln/>
        </p:spPr>
        <p:txBody>
          <a:bodyPr wrap="square" lIns="0" tIns="0" rIns="0" bIns="0" rtlCol="0" anchor="ctr"/>
          <a:lstStyle/>
          <a:p>
            <a:pPr indent="0" marL="0">
              <a:buNone/>
            </a:pPr>
            <a:r>
              <a:rPr lang="en-US" sz="1400" b="1" dirty="0">
                <a:solidFill>
                  <a:schemeClr val="tx2"/>
                </a:solidFill>
              </a:rPr>
              <a:t>Hardware</a:t>
            </a:r>
            <a:endParaRPr lang="en-US" sz="1400" dirty="0"/>
          </a:p>
        </p:txBody>
      </p:sp>
      <p:sp>
        <p:nvSpPr>
          <p:cNvPr id="22" name="Text 17"/>
          <p:cNvSpPr txBox="1"/>
          <p:nvPr/>
        </p:nvSpPr>
        <p:spPr>
          <a:xfrm>
            <a:off x="4764024" y="2468880"/>
            <a:ext cx="1737360" cy="365760"/>
          </a:xfrm>
          <a:prstGeom prst="rect">
            <a:avLst/>
          </a:prstGeom>
          <a:noFill/>
          <a:ln/>
        </p:spPr>
        <p:txBody>
          <a:bodyPr wrap="square" lIns="0" tIns="0" rIns="0" bIns="0" rtlCol="0" anchor="t"/>
          <a:lstStyle/>
          <a:p>
            <a:pPr indent="0" marL="0">
              <a:buNone/>
            </a:pPr>
            <a:r>
              <a:rPr lang="en-US" sz="1200" dirty="0">
                <a:solidFill>
                  <a:schemeClr val="tx1"/>
                </a:solidFill>
              </a:rPr>
              <a:t>Wiring, power, mounting</a:t>
            </a:r>
            <a:endParaRPr lang="en-US" sz="1200" dirty="0"/>
          </a:p>
        </p:txBody>
      </p:sp>
      <p:sp>
        <p:nvSpPr>
          <p:cNvPr id="23" name="Shape 18"/>
          <p:cNvSpPr/>
          <p:nvPr/>
        </p:nvSpPr>
        <p:spPr>
          <a:xfrm>
            <a:off x="6757416" y="1252728"/>
            <a:ext cx="1984248" cy="1691640"/>
          </a:xfrm>
          <a:prstGeom prst="roundRect">
            <a:avLst>
              <a:gd name="adj" fmla="val 4324"/>
            </a:avLst>
          </a:prstGeom>
          <a:solidFill>
            <a:schemeClr val="bg2"/>
          </a:solidFill>
          <a:ln w="12700">
            <a:solidFill>
              <a:schemeClr val="bg2"/>
            </a:solidFill>
            <a:prstDash val="solid"/>
          </a:ln>
        </p:spPr>
      </p:sp>
      <p:sp>
        <p:nvSpPr>
          <p:cNvPr id="24" name="Research and pitch circle"/>
          <p:cNvSpPr/>
          <p:nvPr/>
        </p:nvSpPr>
        <p:spPr>
          <a:xfrm>
            <a:off x="6894576" y="1371600"/>
            <a:ext cx="457200" cy="457200"/>
          </a:xfrm>
          <a:prstGeom prst="ellipse">
            <a:avLst/>
          </a:prstGeom>
          <a:solidFill>
            <a:schemeClr val="accent1"/>
          </a:solidFill>
          <a:ln w="12700">
            <a:solidFill>
              <a:schemeClr val="accent1"/>
            </a:solidFill>
            <a:prstDash val="solid"/>
          </a:ln>
        </p:spPr>
      </p:sp>
      <p:pic>
        <p:nvPicPr>
          <p:cNvPr id="25" name="Research and pitch icon" descr="Research and pitch">    </p:cNvPr>
          <p:cNvPicPr>
            <a:picLocks noChangeAspect="1"/>
          </p:cNvPicPr>
          <p:nvPr/>
        </p:nvPicPr>
        <p:blipFill>
          <a:blip r:embed="rId4"/>
          <a:stretch>
            <a:fillRect/>
          </a:stretch>
        </p:blipFill>
        <p:spPr>
          <a:xfrm>
            <a:off x="7004304" y="1481328"/>
            <a:ext cx="237744" cy="237744"/>
          </a:xfrm>
          <a:prstGeom prst="rect">
            <a:avLst/>
          </a:prstGeom>
        </p:spPr>
      </p:pic>
      <p:sp>
        <p:nvSpPr>
          <p:cNvPr id="26" name="Text 20"/>
          <p:cNvSpPr txBox="1"/>
          <p:nvPr/>
        </p:nvSpPr>
        <p:spPr>
          <a:xfrm>
            <a:off x="6894576" y="1901952"/>
            <a:ext cx="1737360" cy="256032"/>
          </a:xfrm>
          <a:prstGeom prst="rect">
            <a:avLst/>
          </a:prstGeom>
          <a:noFill/>
          <a:ln/>
        </p:spPr>
        <p:txBody>
          <a:bodyPr wrap="square" lIns="0" tIns="0" rIns="0" bIns="0" rtlCol="0" anchor="ctr"/>
          <a:lstStyle/>
          <a:p>
            <a:pPr indent="0" marL="0">
              <a:buNone/>
            </a:pPr>
            <a:r>
              <a:rPr lang="en-US" sz="1200" i="1" dirty="0">
                <a:solidFill>
                  <a:schemeClr val="accent2"/>
                </a:solidFill>
              </a:rPr>
              <a:t>[Member name]</a:t>
            </a:r>
            <a:endParaRPr lang="en-US" sz="1200" dirty="0"/>
          </a:p>
        </p:txBody>
      </p:sp>
      <p:sp>
        <p:nvSpPr>
          <p:cNvPr id="27" name="Text 21"/>
          <p:cNvSpPr txBox="1"/>
          <p:nvPr/>
        </p:nvSpPr>
        <p:spPr>
          <a:xfrm>
            <a:off x="6894576" y="2176272"/>
            <a:ext cx="1737360" cy="274320"/>
          </a:xfrm>
          <a:prstGeom prst="rect">
            <a:avLst/>
          </a:prstGeom>
          <a:noFill/>
          <a:ln/>
        </p:spPr>
        <p:txBody>
          <a:bodyPr wrap="square" lIns="0" tIns="0" rIns="0" bIns="0" rtlCol="0" anchor="ctr"/>
          <a:lstStyle/>
          <a:p>
            <a:pPr indent="0" marL="0">
              <a:buNone/>
            </a:pPr>
            <a:r>
              <a:rPr lang="en-US" sz="1400" b="1" dirty="0">
                <a:solidFill>
                  <a:schemeClr val="tx2"/>
                </a:solidFill>
              </a:rPr>
              <a:t>Research and pitch</a:t>
            </a:r>
            <a:endParaRPr lang="en-US" sz="1400" dirty="0"/>
          </a:p>
        </p:txBody>
      </p:sp>
      <p:sp>
        <p:nvSpPr>
          <p:cNvPr id="28" name="Text 22"/>
          <p:cNvSpPr txBox="1"/>
          <p:nvPr/>
        </p:nvSpPr>
        <p:spPr>
          <a:xfrm>
            <a:off x="6894576" y="2468880"/>
            <a:ext cx="1737360" cy="365760"/>
          </a:xfrm>
          <a:prstGeom prst="rect">
            <a:avLst/>
          </a:prstGeom>
          <a:noFill/>
          <a:ln/>
        </p:spPr>
        <p:txBody>
          <a:bodyPr wrap="square" lIns="0" tIns="0" rIns="0" bIns="0" rtlCol="0" anchor="t"/>
          <a:lstStyle/>
          <a:p>
            <a:pPr indent="0" marL="0">
              <a:buNone/>
            </a:pPr>
            <a:r>
              <a:rPr lang="en-US" sz="1200" dirty="0">
                <a:solidFill>
                  <a:schemeClr val="tx1"/>
                </a:solidFill>
              </a:rPr>
              <a:t>Data, deck, demo</a:t>
            </a:r>
            <a:endParaRPr lang="en-US" sz="1200" dirty="0"/>
          </a:p>
        </p:txBody>
      </p:sp>
      <p:sp>
        <p:nvSpPr>
          <p:cNvPr id="29" name="Shape 23"/>
          <p:cNvSpPr/>
          <p:nvPr/>
        </p:nvSpPr>
        <p:spPr>
          <a:xfrm>
            <a:off x="365760" y="3108960"/>
            <a:ext cx="4114800" cy="1600200"/>
          </a:xfrm>
          <a:prstGeom prst="roundRect">
            <a:avLst>
              <a:gd name="adj" fmla="val 4571"/>
            </a:avLst>
          </a:prstGeom>
          <a:solidFill>
            <a:schemeClr val="tx2"/>
          </a:solidFill>
          <a:ln w="12700">
            <a:solidFill>
              <a:schemeClr val="tx2"/>
            </a:solidFill>
            <a:prstDash val="solid"/>
          </a:ln>
        </p:spPr>
      </p:sp>
      <p:sp>
        <p:nvSpPr>
          <p:cNvPr id="30" name="Text 24"/>
          <p:cNvSpPr txBox="1"/>
          <p:nvPr/>
        </p:nvSpPr>
        <p:spPr>
          <a:xfrm>
            <a:off x="530352" y="3182112"/>
            <a:ext cx="3785616" cy="274320"/>
          </a:xfrm>
          <a:prstGeom prst="rect">
            <a:avLst/>
          </a:prstGeom>
          <a:noFill/>
          <a:ln/>
        </p:spPr>
        <p:txBody>
          <a:bodyPr wrap="square" lIns="0" tIns="0" rIns="0" bIns="0" rtlCol="0" anchor="ctr"/>
          <a:lstStyle/>
          <a:p>
            <a:pPr indent="0" marL="0">
              <a:buNone/>
            </a:pPr>
            <a:r>
              <a:rPr lang="en-US" sz="1300" b="1" dirty="0">
                <a:solidFill>
                  <a:schemeClr val="accent5"/>
                </a:solidFill>
              </a:rPr>
              <a:t>CHALLENGES</a:t>
            </a:r>
            <a:endParaRPr lang="en-US" sz="1300" dirty="0"/>
          </a:p>
        </p:txBody>
      </p:sp>
      <p:sp>
        <p:nvSpPr>
          <p:cNvPr id="31" name="Text 25"/>
          <p:cNvSpPr txBox="1"/>
          <p:nvPr/>
        </p:nvSpPr>
        <p:spPr>
          <a:xfrm>
            <a:off x="530352" y="3474720"/>
            <a:ext cx="3785616" cy="11704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Telling a crash from a pothole</a:t>
            </a:r>
            <a:endParaRPr lang="en-US" sz="1300" dirty="0"/>
          </a:p>
          <a:p>
            <a:pPr marL="342900" indent="-342900">
              <a:spcAft>
                <a:spcPts val="400"/>
              </a:spcAft>
              <a:buSzPct val="100000"/>
              <a:buChar char="•"/>
            </a:pPr>
            <a:r>
              <a:rPr lang="en-US" sz="1300" dirty="0">
                <a:solidFill>
                  <a:schemeClr val="bg1"/>
                </a:solidFill>
              </a:rPr>
              <a:t>Keeping the SMS reliable if BLE drops</a:t>
            </a:r>
            <a:endParaRPr lang="en-US" sz="1300" dirty="0"/>
          </a:p>
          <a:p>
            <a:pPr marL="342900" indent="-342900">
              <a:spcAft>
                <a:spcPts val="400"/>
              </a:spcAft>
              <a:buSzPct val="100000"/>
              <a:buChar char="•"/>
            </a:pPr>
            <a:r>
              <a:rPr lang="en-US" sz="1300" dirty="0">
                <a:solidFill>
                  <a:schemeClr val="bg1"/>
                </a:solidFill>
              </a:rPr>
              <a:t>Powering LEDs and ESP32 from one cell</a:t>
            </a:r>
            <a:endParaRPr lang="en-US" sz="1300" dirty="0"/>
          </a:p>
        </p:txBody>
      </p:sp>
      <p:sp>
        <p:nvSpPr>
          <p:cNvPr id="32" name="Shape 26"/>
          <p:cNvSpPr/>
          <p:nvPr/>
        </p:nvSpPr>
        <p:spPr>
          <a:xfrm>
            <a:off x="4663440" y="3108960"/>
            <a:ext cx="4114800" cy="1600200"/>
          </a:xfrm>
          <a:prstGeom prst="roundRect">
            <a:avLst>
              <a:gd name="adj" fmla="val 4571"/>
            </a:avLst>
          </a:prstGeom>
          <a:solidFill>
            <a:schemeClr val="tx2"/>
          </a:solidFill>
          <a:ln w="12700">
            <a:solidFill>
              <a:schemeClr val="tx2"/>
            </a:solidFill>
            <a:prstDash val="solid"/>
          </a:ln>
        </p:spPr>
      </p:sp>
      <p:sp>
        <p:nvSpPr>
          <p:cNvPr id="33" name="Text 27"/>
          <p:cNvSpPr txBox="1"/>
          <p:nvPr/>
        </p:nvSpPr>
        <p:spPr>
          <a:xfrm>
            <a:off x="4828032" y="3182112"/>
            <a:ext cx="3785616" cy="274320"/>
          </a:xfrm>
          <a:prstGeom prst="rect">
            <a:avLst/>
          </a:prstGeom>
          <a:noFill/>
          <a:ln/>
        </p:spPr>
        <p:txBody>
          <a:bodyPr wrap="square" lIns="0" tIns="0" rIns="0" bIns="0" rtlCol="0" anchor="ctr"/>
          <a:lstStyle/>
          <a:p>
            <a:pPr indent="0" marL="0">
              <a:buNone/>
            </a:pPr>
            <a:r>
              <a:rPr lang="en-US" sz="1300" b="1" dirty="0">
                <a:solidFill>
                  <a:schemeClr val="accent5"/>
                </a:solidFill>
              </a:rPr>
              <a:t>OUR JOURNEY</a:t>
            </a:r>
            <a:endParaRPr lang="en-US" sz="1300" dirty="0"/>
          </a:p>
        </p:txBody>
      </p:sp>
      <p:sp>
        <p:nvSpPr>
          <p:cNvPr id="34" name="Text 28"/>
          <p:cNvSpPr txBox="1"/>
          <p:nvPr/>
        </p:nvSpPr>
        <p:spPr>
          <a:xfrm>
            <a:off x="4828032" y="3474720"/>
            <a:ext cx="3785616" cy="1170432"/>
          </a:xfrm>
          <a:prstGeom prst="rect">
            <a:avLst/>
          </a:prstGeom>
          <a:noFill/>
          <a:ln/>
        </p:spPr>
        <p:txBody>
          <a:bodyPr wrap="square" lIns="0" tIns="0" rIns="0" bIns="0" rtlCol="0" anchor="t"/>
          <a:lstStyle/>
          <a:p>
            <a:pPr indent="0" marL="0">
              <a:spcAft>
                <a:spcPts val="400"/>
              </a:spcAft>
              <a:buNone/>
            </a:pPr>
            <a:r>
              <a:rPr lang="en-US" sz="1300" i="1" dirty="0">
                <a:solidFill>
                  <a:schemeClr val="bg1"/>
                </a:solidFill>
              </a:rPr>
              <a:t>[Add 2–3 short lines: how the idea started, tests done, what you learned]</a:t>
            </a:r>
            <a:endParaRPr lang="en-US" sz="13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am name"/>
          <p:cNvSpPr txBox="1"/>
          <p:nvPr/>
        </p:nvSpPr>
        <p:spPr>
          <a:xfrm>
            <a:off x="274320" y="137160"/>
            <a:ext cx="1280160" cy="640080"/>
          </a:xfrm>
          <a:prstGeom prst="ellipse">
            <a:avLst/>
          </a:prstGeom>
          <a:solidFill>
            <a:schemeClr val="accent5"/>
          </a:solidFill>
          <a:ln w="12700">
            <a:solidFill>
              <a:schemeClr val="accent2"/>
            </a:solidFill>
          </a:ln>
        </p:spPr>
        <p:txBody>
          <a:bodyPr wrap="square" lIns="25400" tIns="25400" rIns="25400" bIns="25400" rtlCol="0" anchor="ctr"/>
          <a:lstStyle/>
          <a:p>
            <a:pPr algn="ctr" indent="0" marL="0">
              <a:buNone/>
            </a:pPr>
            <a:r>
              <a:rPr lang="en-US" sz="1100" b="1" dirty="0">
                <a:solidFill>
                  <a:schemeClr val="tx2"/>
                </a:solidFill>
              </a:rPr>
              <a:t>[Team Name]</a:t>
            </a:r>
            <a:endParaRPr lang="en-US" sz="1100" dirty="0"/>
          </a:p>
        </p:txBody>
      </p:sp>
      <p:sp>
        <p:nvSpPr>
          <p:cNvPr id="3" name="Text 1"/>
          <p:cNvSpPr/>
          <p:nvPr>
            <p:ph idx="102" type="title" hasCustomPrompt="1"/>
          </p:nvPr>
        </p:nvSpPr>
        <p:spPr>
          <a:xfrm>
            <a:off x="1645920" y="164592"/>
            <a:ext cx="5669280" cy="640080"/>
          </a:xfrm>
          <a:prstGeom prst="rect">
            <a:avLst/>
          </a:prstGeom>
          <a:noFill/>
          <a:ln/>
        </p:spPr>
        <p:txBody>
          <a:bodyPr wrap="square" lIns="0" tIns="0" rIns="0" bIns="0" rtlCol="0" anchor="ctr"/>
          <a:lstStyle/>
          <a:p>
            <a:pPr algn="ctr" indent="0" marL="0">
              <a:buNone/>
            </a:pPr>
            <a:r>
              <a:rPr lang="en-US" sz="2800" b="1" dirty="0">
                <a:solidFill>
                  <a:schemeClr val="tx2"/>
                </a:solidFill>
              </a:rPr>
              <a:t>References</a:t>
            </a:r>
            <a:endParaRPr lang="en-US" sz="2800" dirty="0"/>
          </a:p>
        </p:txBody>
      </p:sp>
      <p:sp>
        <p:nvSpPr>
          <p:cNvPr id="4" name="Text 2"/>
          <p:cNvSpPr txBox="1"/>
          <p:nvPr/>
        </p:nvSpPr>
        <p:spPr>
          <a:xfrm>
            <a:off x="365760" y="10058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5" name="Text 3"/>
          <p:cNvSpPr txBox="1"/>
          <p:nvPr/>
        </p:nvSpPr>
        <p:spPr>
          <a:xfrm>
            <a:off x="868680" y="1005840"/>
            <a:ext cx="7909560" cy="402336"/>
          </a:xfrm>
          <a:prstGeom prst="rect">
            <a:avLst/>
          </a:prstGeom>
          <a:noFill/>
          <a:ln/>
        </p:spPr>
        <p:txBody>
          <a:bodyPr wrap="square" lIns="0" tIns="0" rIns="0" bIns="0" rtlCol="0" anchor="t"/>
          <a:lstStyle/>
          <a:p>
            <a:pPr indent="0" marL="0">
              <a:buNone/>
            </a:pPr>
            <a:r>
              <a:rPr lang="en-US" sz="1200" dirty="0">
                <a:solidFill>
                  <a:schemeClr val="tx1"/>
                </a:solidFill>
              </a:rPr>
              <a:t>Ministry of Road Transport and Highways, Road Accidents in India 2023 (Transport Research Wing), morth.nic.in</a:t>
            </a:r>
            <a:endParaRPr lang="en-US" sz="1200" dirty="0"/>
          </a:p>
        </p:txBody>
      </p:sp>
      <p:sp>
        <p:nvSpPr>
          <p:cNvPr id="6" name="Text 4"/>
          <p:cNvSpPr txBox="1"/>
          <p:nvPr/>
        </p:nvSpPr>
        <p:spPr>
          <a:xfrm>
            <a:off x="365760" y="14630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[2]</a:t>
            </a:r>
            <a:endParaRPr lang="en-US" sz="1200" dirty="0"/>
          </a:p>
        </p:txBody>
      </p:sp>
      <p:sp>
        <p:nvSpPr>
          <p:cNvPr id="7" name="Text 5"/>
          <p:cNvSpPr txBox="1"/>
          <p:nvPr/>
        </p:nvSpPr>
        <p:spPr>
          <a:xfrm>
            <a:off x="868680" y="1463040"/>
            <a:ext cx="7909560" cy="402336"/>
          </a:xfrm>
          <a:prstGeom prst="rect">
            <a:avLst/>
          </a:prstGeom>
          <a:noFill/>
          <a:ln/>
        </p:spPr>
        <p:txBody>
          <a:bodyPr wrap="square" lIns="0" tIns="0" rIns="0" bIns="0" rtlCol="0" anchor="t"/>
          <a:lstStyle/>
          <a:p>
            <a:pPr indent="0" marL="0">
              <a:buNone/>
            </a:pPr>
            <a:r>
              <a:rPr lang="en-US" sz="1200" dirty="0">
                <a:solidFill>
                  <a:schemeClr val="tx1"/>
                </a:solidFill>
              </a:rPr>
              <a:t>Newslaundry, “More two-wheelers, gig workers under pressure: In India, 9 bike riders die every hour”, 10 Nov 2025 (analysis of MoRTH data), newslaundry.com</a:t>
            </a:r>
            <a:endParaRPr lang="en-US" sz="1200" dirty="0"/>
          </a:p>
        </p:txBody>
      </p:sp>
      <p:sp>
        <p:nvSpPr>
          <p:cNvPr id="8" name="Text 6"/>
          <p:cNvSpPr txBox="1"/>
          <p:nvPr/>
        </p:nvSpPr>
        <p:spPr>
          <a:xfrm>
            <a:off x="365760" y="19202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[3]</a:t>
            </a:r>
            <a:endParaRPr lang="en-US" sz="1200" dirty="0"/>
          </a:p>
        </p:txBody>
      </p:sp>
      <p:sp>
        <p:nvSpPr>
          <p:cNvPr id="9" name="Text 7"/>
          <p:cNvSpPr txBox="1"/>
          <p:nvPr/>
        </p:nvSpPr>
        <p:spPr>
          <a:xfrm>
            <a:off x="868680" y="1920240"/>
            <a:ext cx="7909560" cy="402336"/>
          </a:xfrm>
          <a:prstGeom prst="rect">
            <a:avLst/>
          </a:prstGeom>
          <a:noFill/>
          <a:ln/>
        </p:spPr>
        <p:txBody>
          <a:bodyPr wrap="square" lIns="0" tIns="0" rIns="0" bIns="0" rtlCol="0" anchor="t"/>
          <a:lstStyle/>
          <a:p>
            <a:pPr indent="0" marL="0">
              <a:buNone/>
            </a:pPr>
            <a:r>
              <a:rPr lang="en-US" sz="1200" dirty="0">
                <a:solidFill>
                  <a:schemeClr val="tx1"/>
                </a:solidFill>
              </a:rPr>
              <a:t>InvenSense (TDK), MPU-6000 / MPU-6050 Product Specification and Register Map</a:t>
            </a:r>
            <a:endParaRPr lang="en-US" sz="1200" dirty="0"/>
          </a:p>
        </p:txBody>
      </p:sp>
      <p:sp>
        <p:nvSpPr>
          <p:cNvPr id="10" name="Text 8"/>
          <p:cNvSpPr txBox="1"/>
          <p:nvPr/>
        </p:nvSpPr>
        <p:spPr>
          <a:xfrm>
            <a:off x="365760" y="23774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[4]</a:t>
            </a:r>
            <a:endParaRPr lang="en-US" sz="1200" dirty="0"/>
          </a:p>
        </p:txBody>
      </p:sp>
      <p:sp>
        <p:nvSpPr>
          <p:cNvPr id="11" name="Text 9"/>
          <p:cNvSpPr txBox="1"/>
          <p:nvPr/>
        </p:nvSpPr>
        <p:spPr>
          <a:xfrm>
            <a:off x="868680" y="2377440"/>
            <a:ext cx="7909560" cy="402336"/>
          </a:xfrm>
          <a:prstGeom prst="rect">
            <a:avLst/>
          </a:prstGeom>
          <a:noFill/>
          <a:ln/>
        </p:spPr>
        <p:txBody>
          <a:bodyPr wrap="square" lIns="0" tIns="0" rIns="0" bIns="0" rtlCol="0" anchor="t"/>
          <a:lstStyle/>
          <a:p>
            <a:pPr indent="0" marL="0">
              <a:buNone/>
            </a:pPr>
            <a:r>
              <a:rPr lang="en-US" sz="1200" dirty="0">
                <a:solidFill>
                  <a:schemeClr val="tx1"/>
                </a:solidFill>
              </a:rPr>
              <a:t>Espressif, Arduino-ESP32 documentation (BLE library), docs.espressif.com/projects/arduino-esp32</a:t>
            </a:r>
            <a:endParaRPr lang="en-US" sz="1200" dirty="0"/>
          </a:p>
        </p:txBody>
      </p:sp>
      <p:sp>
        <p:nvSpPr>
          <p:cNvPr id="12" name="Text 10"/>
          <p:cNvSpPr txBox="1"/>
          <p:nvPr/>
        </p:nvSpPr>
        <p:spPr>
          <a:xfrm>
            <a:off x="365760" y="28346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[5]</a:t>
            </a:r>
            <a:endParaRPr lang="en-US" sz="1200" dirty="0"/>
          </a:p>
        </p:txBody>
      </p:sp>
      <p:sp>
        <p:nvSpPr>
          <p:cNvPr id="13" name="Text 11"/>
          <p:cNvSpPr txBox="1"/>
          <p:nvPr/>
        </p:nvSpPr>
        <p:spPr>
          <a:xfrm>
            <a:off x="868680" y="2834640"/>
            <a:ext cx="7909560" cy="402336"/>
          </a:xfrm>
          <a:prstGeom prst="rect">
            <a:avLst/>
          </a:prstGeom>
          <a:noFill/>
          <a:ln/>
        </p:spPr>
        <p:txBody>
          <a:bodyPr wrap="square" lIns="0" tIns="0" rIns="0" bIns="0" rtlCol="0" anchor="t"/>
          <a:lstStyle/>
          <a:p>
            <a:pPr indent="0" marL="0">
              <a:buNone/>
            </a:pPr>
            <a:r>
              <a:rPr lang="en-US" sz="1200" dirty="0">
                <a:solidFill>
                  <a:schemeClr val="tx1"/>
                </a:solidFill>
              </a:rPr>
              <a:t>Adafruit, NeoPixel Überguide (WS2812B power and wiring), learn.adafruit.com/adafruit-neopixel-uberguide</a:t>
            </a:r>
            <a:endParaRPr lang="en-US" sz="1200" dirty="0"/>
          </a:p>
        </p:txBody>
      </p:sp>
      <p:sp>
        <p:nvSpPr>
          <p:cNvPr id="14" name="Text 12"/>
          <p:cNvSpPr txBox="1"/>
          <p:nvPr/>
        </p:nvSpPr>
        <p:spPr>
          <a:xfrm>
            <a:off x="365760" y="32918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[6]</a:t>
            </a:r>
            <a:endParaRPr lang="en-US" sz="1200" dirty="0"/>
          </a:p>
        </p:txBody>
      </p:sp>
      <p:sp>
        <p:nvSpPr>
          <p:cNvPr id="15" name="Text 13"/>
          <p:cNvSpPr txBox="1"/>
          <p:nvPr/>
        </p:nvSpPr>
        <p:spPr>
          <a:xfrm>
            <a:off x="868680" y="3291840"/>
            <a:ext cx="7909560" cy="402336"/>
          </a:xfrm>
          <a:prstGeom prst="rect">
            <a:avLst/>
          </a:prstGeom>
          <a:noFill/>
          <a:ln/>
        </p:spPr>
        <p:txBody>
          <a:bodyPr wrap="square" lIns="0" tIns="0" rIns="0" bIns="0" rtlCol="0" anchor="t"/>
          <a:lstStyle/>
          <a:p>
            <a:pPr indent="0" marL="0">
              <a:buNone/>
            </a:pPr>
            <a:r>
              <a:rPr lang="en-US" sz="1200" dirty="0">
                <a:solidFill>
                  <a:schemeClr val="tx1"/>
                </a:solidFill>
              </a:rPr>
              <a:t>NanJing Top Power, TP4056 1 A Standalone Linear Li-Ion Battery Charger datasheet</a:t>
            </a:r>
            <a:endParaRPr lang="en-US" sz="1200" dirty="0"/>
          </a:p>
        </p:txBody>
      </p:sp>
      <p:sp>
        <p:nvSpPr>
          <p:cNvPr id="16" name="Text 14"/>
          <p:cNvSpPr txBox="1"/>
          <p:nvPr/>
        </p:nvSpPr>
        <p:spPr>
          <a:xfrm>
            <a:off x="365760" y="37490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[7]</a:t>
            </a:r>
            <a:endParaRPr lang="en-US" sz="1200" dirty="0"/>
          </a:p>
        </p:txBody>
      </p:sp>
      <p:sp>
        <p:nvSpPr>
          <p:cNvPr id="17" name="Text 15"/>
          <p:cNvSpPr txBox="1"/>
          <p:nvPr/>
        </p:nvSpPr>
        <p:spPr>
          <a:xfrm>
            <a:off x="868680" y="3749040"/>
            <a:ext cx="7909560" cy="402336"/>
          </a:xfrm>
          <a:prstGeom prst="rect">
            <a:avLst/>
          </a:prstGeom>
          <a:noFill/>
          <a:ln/>
        </p:spPr>
        <p:txBody>
          <a:bodyPr wrap="square" lIns="0" tIns="0" rIns="0" bIns="0" rtlCol="0" anchor="t"/>
          <a:lstStyle/>
          <a:p>
            <a:pPr indent="0" marL="0">
              <a:buNone/>
            </a:pPr>
            <a:r>
              <a:rPr lang="en-US" sz="1200" dirty="0">
                <a:solidFill>
                  <a:schemeClr val="tx1"/>
                </a:solidFill>
              </a:rPr>
              <a:t>Android Developers: Bluetooth LE overview, SmsManager, Foreground services, developer.android.com</a:t>
            </a:r>
            <a:endParaRPr lang="en-US" sz="1200" dirty="0"/>
          </a:p>
        </p:txBody>
      </p:sp>
      <p:sp>
        <p:nvSpPr>
          <p:cNvPr id="18" name="Text 16"/>
          <p:cNvSpPr txBox="1"/>
          <p:nvPr/>
        </p:nvSpPr>
        <p:spPr>
          <a:xfrm>
            <a:off x="365760" y="4206240"/>
            <a:ext cx="502920" cy="402336"/>
          </a:xfrm>
          <a:prstGeom prst="rect">
            <a:avLst/>
          </a:prstGeom>
          <a:noFill/>
          <a:ln/>
        </p:spPr>
        <p:txBody>
          <a:bodyPr wrap="square" lIns="0" tIns="0" rIns="0" bIns="0" rtlCol="0" anchor="t"/>
          <a:lstStyle/>
          <a:p>
            <a:pPr indent="0" marL="0">
              <a:buNone/>
            </a:pPr>
            <a:r>
              <a:rPr lang="en-US" sz="1200" b="1" dirty="0">
                <a:solidFill>
                  <a:schemeClr val="accent1"/>
                </a:solidFill>
              </a:rPr>
              <a:t>[8]</a:t>
            </a:r>
            <a:endParaRPr lang="en-US" sz="1200" dirty="0"/>
          </a:p>
        </p:txBody>
      </p:sp>
      <p:sp>
        <p:nvSpPr>
          <p:cNvPr id="19" name="Text 17"/>
          <p:cNvSpPr txBox="1"/>
          <p:nvPr/>
        </p:nvSpPr>
        <p:spPr>
          <a:xfrm>
            <a:off x="868680" y="4206240"/>
            <a:ext cx="7909560" cy="402336"/>
          </a:xfrm>
          <a:prstGeom prst="rect">
            <a:avLst/>
          </a:prstGeom>
          <a:noFill/>
          <a:ln/>
        </p:spPr>
        <p:txBody>
          <a:bodyPr wrap="square" lIns="0" tIns="0" rIns="0" bIns="0" rtlCol="0" anchor="t"/>
          <a:lstStyle/>
          <a:p>
            <a:pPr indent="0" marL="0">
              <a:buNone/>
            </a:pPr>
            <a:r>
              <a:rPr lang="en-US" sz="1200" i="1" dirty="0">
                <a:solidFill>
                  <a:schemeClr val="accent2"/>
                </a:solidFill>
              </a:rPr>
              <a:t>Project repository: code, docs, sample data (synthetic), github.com/[user]/smart-helmet-light</a:t>
            </a:r>
            <a:endParaRPr lang="en-US" sz="1200" dirty="0"/>
          </a:p>
        </p:txBody>
      </p:sp>
      <p:sp>
        <p:nvSpPr>
          <p:cNvPr id="20" name="Text 18"/>
          <p:cNvSpPr txBox="1"/>
          <p:nvPr/>
        </p:nvSpPr>
        <p:spPr>
          <a:xfrm>
            <a:off x="365760" y="4617720"/>
            <a:ext cx="7863840" cy="201168"/>
          </a:xfrm>
          <a:prstGeom prst="rect">
            <a:avLst/>
          </a:prstGeom>
          <a:noFill/>
          <a:ln/>
        </p:spPr>
        <p:txBody>
          <a:bodyPr wrap="square" lIns="0" tIns="0" rIns="0" bIns="0" rtlCol="0" anchor="ctr"/>
          <a:lstStyle/>
          <a:p>
            <a:pPr indent="0" marL="0">
              <a:buNone/>
            </a:pPr>
            <a:r>
              <a:rPr lang="en-US" sz="1000" i="1" dirty="0">
                <a:solidFill>
                  <a:schemeClr val="accent4"/>
                </a:solidFill>
              </a:rPr>
              <a:t>Sample data in the repository is synthetic. Thresholds are starting values pending field tests.</a:t>
            </a:r>
            <a:endParaRPr lang="en-US" sz="1000" dirty="0"/>
          </a:p>
        </p:txBody>
      </p:sp>
      <p:sp>
        <p:nvSpPr>
          <p:cNvPr id="25" name="Slide Number Placeholder 0"/>
          <p:cNvSpPr>
            <a:spLocks noGrp="1"/>
          </p:cNvSpPr>
          <p:nvPr>
            <p:ph type="sldNum" sz="quarter" idx="4294967295"/>
          </p:nvPr>
        </p:nvSpPr>
        <p:spPr>
          <a:xfrm>
            <a:off x="836676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HSC Smart Helmet">
  <a:themeElements>
    <a:clrScheme name="HSC Smart Helmet">
      <a:dk1>
        <a:srgbClr val="262626"/>
      </a:dk1>
      <a:lt1>
        <a:srgbClr val="FFFFFF"/>
      </a:lt1>
      <a:dk2>
        <a:srgbClr val="1F497D"/>
      </a:dk2>
      <a:lt2>
        <a:srgbClr val="EAF1FB"/>
      </a:lt2>
      <a:accent1>
        <a:srgbClr val="0070C0"/>
      </a:accent1>
      <a:accent2>
        <a:srgbClr val="E07B10"/>
      </a:accent2>
      <a:accent3>
        <a:srgbClr val="4E8A32"/>
      </a:accent3>
      <a:accent4>
        <a:srgbClr val="595959"/>
      </a:accent4>
      <a:accent5>
        <a:srgbClr val="FBD3AE"/>
      </a:accent5>
      <a:accent6>
        <a:srgbClr val="C62828"/>
      </a:accent6>
      <a:hlink>
        <a:srgbClr val="0070C0"/>
      </a:hlink>
      <a:folHlink>
        <a:srgbClr val="595959"/>
      </a:folHlink>
    </a:clrScheme>
    <a:fontScheme name="HSC Smart Helm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Helmet Light - HSC Idea Submission</dc:title>
  <dc:subject>PptxGenJS Presentation</dc:subject>
  <dc:creator>PptxGenJS</dc:creator>
  <cp:lastModifiedBy>PptxGenJS</cp:lastModifiedBy>
  <cp:revision>1</cp:revision>
  <dcterms:created xsi:type="dcterms:W3CDTF">2026-10-13T15:20:10Z</dcterms:created>
  <dcterms:modified xsi:type="dcterms:W3CDTF">2026-10-13T15:20:10Z</dcterms:modified>
</cp:coreProperties>
</file>